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48"/>
  </p:notesMasterIdLst>
  <p:handoutMasterIdLst>
    <p:handoutMasterId r:id="rId49"/>
  </p:handoutMasterIdLst>
  <p:sldIdLst>
    <p:sldId id="256" r:id="rId2"/>
    <p:sldId id="272" r:id="rId3"/>
    <p:sldId id="273" r:id="rId4"/>
    <p:sldId id="355" r:id="rId5"/>
    <p:sldId id="274" r:id="rId6"/>
    <p:sldId id="258" r:id="rId7"/>
    <p:sldId id="275" r:id="rId8"/>
    <p:sldId id="293" r:id="rId9"/>
    <p:sldId id="259" r:id="rId10"/>
    <p:sldId id="261" r:id="rId11"/>
    <p:sldId id="297" r:id="rId12"/>
    <p:sldId id="262" r:id="rId13"/>
    <p:sldId id="319" r:id="rId14"/>
    <p:sldId id="350" r:id="rId15"/>
    <p:sldId id="346" r:id="rId16"/>
    <p:sldId id="351" r:id="rId17"/>
    <p:sldId id="352" r:id="rId18"/>
    <p:sldId id="353" r:id="rId19"/>
    <p:sldId id="354" r:id="rId20"/>
    <p:sldId id="334" r:id="rId21"/>
    <p:sldId id="336" r:id="rId22"/>
    <p:sldId id="337" r:id="rId23"/>
    <p:sldId id="338" r:id="rId24"/>
    <p:sldId id="339" r:id="rId25"/>
    <p:sldId id="340" r:id="rId26"/>
    <p:sldId id="341" r:id="rId27"/>
    <p:sldId id="342" r:id="rId28"/>
    <p:sldId id="343" r:id="rId29"/>
    <p:sldId id="344" r:id="rId30"/>
    <p:sldId id="345" r:id="rId31"/>
    <p:sldId id="281" r:id="rId32"/>
    <p:sldId id="283" r:id="rId33"/>
    <p:sldId id="264" r:id="rId34"/>
    <p:sldId id="285" r:id="rId35"/>
    <p:sldId id="348" r:id="rId36"/>
    <p:sldId id="288" r:id="rId37"/>
    <p:sldId id="266" r:id="rId38"/>
    <p:sldId id="291" r:id="rId39"/>
    <p:sldId id="292" r:id="rId40"/>
    <p:sldId id="305" r:id="rId41"/>
    <p:sldId id="324" r:id="rId42"/>
    <p:sldId id="325" r:id="rId43"/>
    <p:sldId id="331" r:id="rId44"/>
    <p:sldId id="317" r:id="rId45"/>
    <p:sldId id="349" r:id="rId46"/>
    <p:sldId id="356"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5DABD8-4763-465D-A2EF-8973BF10A631}" v="1" dt="2024-08-31T08:52:07.5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15"/>
    <p:restoredTop sz="94691"/>
  </p:normalViewPr>
  <p:slideViewPr>
    <p:cSldViewPr snapToGrid="0" snapToObjects="1">
      <p:cViewPr varScale="1">
        <p:scale>
          <a:sx n="189" d="100"/>
          <a:sy n="189" d="100"/>
        </p:scale>
        <p:origin x="768" y="17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iru Che" userId="1c856a9b-779f-4ea1-90ea-56390d32838d" providerId="ADAL" clId="{E75DABD8-4763-465D-A2EF-8973BF10A631}"/>
    <pc:docChg chg="modSld">
      <pc:chgData name="Meiru Che" userId="1c856a9b-779f-4ea1-90ea-56390d32838d" providerId="ADAL" clId="{E75DABD8-4763-465D-A2EF-8973BF10A631}" dt="2024-09-01T06:47:12.715" v="17" actId="20577"/>
      <pc:docMkLst>
        <pc:docMk/>
      </pc:docMkLst>
      <pc:sldChg chg="modSp mod">
        <pc:chgData name="Meiru Che" userId="1c856a9b-779f-4ea1-90ea-56390d32838d" providerId="ADAL" clId="{E75DABD8-4763-465D-A2EF-8973BF10A631}" dt="2024-09-01T02:30:14.059" v="1" actId="20577"/>
        <pc:sldMkLst>
          <pc:docMk/>
          <pc:sldMk cId="0" sldId="274"/>
        </pc:sldMkLst>
        <pc:spChg chg="mod">
          <ac:chgData name="Meiru Che" userId="1c856a9b-779f-4ea1-90ea-56390d32838d" providerId="ADAL" clId="{E75DABD8-4763-465D-A2EF-8973BF10A631}" dt="2024-09-01T02:30:14.059" v="1" actId="20577"/>
          <ac:spMkLst>
            <pc:docMk/>
            <pc:sldMk cId="0" sldId="274"/>
            <ac:spMk id="91139" creationId="{00000000-0000-0000-0000-000000000000}"/>
          </ac:spMkLst>
        </pc:spChg>
      </pc:sldChg>
      <pc:sldChg chg="modSp mod">
        <pc:chgData name="Meiru Che" userId="1c856a9b-779f-4ea1-90ea-56390d32838d" providerId="ADAL" clId="{E75DABD8-4763-465D-A2EF-8973BF10A631}" dt="2024-09-01T06:47:12.715" v="17" actId="20577"/>
        <pc:sldMkLst>
          <pc:docMk/>
          <pc:sldMk cId="0" sldId="285"/>
        </pc:sldMkLst>
        <pc:spChg chg="mod">
          <ac:chgData name="Meiru Che" userId="1c856a9b-779f-4ea1-90ea-56390d32838d" providerId="ADAL" clId="{E75DABD8-4763-465D-A2EF-8973BF10A631}" dt="2024-09-01T06:47:12.715" v="17" actId="20577"/>
          <ac:spMkLst>
            <pc:docMk/>
            <pc:sldMk cId="0" sldId="285"/>
            <ac:spMk id="30722" creationId="{00000000-0000-0000-0000-000000000000}"/>
          </ac:spMkLst>
        </pc:spChg>
      </pc:sldChg>
      <pc:sldChg chg="modSp mod">
        <pc:chgData name="Meiru Che" userId="1c856a9b-779f-4ea1-90ea-56390d32838d" providerId="ADAL" clId="{E75DABD8-4763-465D-A2EF-8973BF10A631}" dt="2024-09-01T06:08:28.267" v="2" actId="20577"/>
        <pc:sldMkLst>
          <pc:docMk/>
          <pc:sldMk cId="0" sldId="318"/>
        </pc:sldMkLst>
        <pc:spChg chg="mod">
          <ac:chgData name="Meiru Che" userId="1c856a9b-779f-4ea1-90ea-56390d32838d" providerId="ADAL" clId="{E75DABD8-4763-465D-A2EF-8973BF10A631}" dt="2024-09-01T06:08:28.267" v="2" actId="20577"/>
          <ac:spMkLst>
            <pc:docMk/>
            <pc:sldMk cId="0" sldId="318"/>
            <ac:spMk id="3" creationId="{00000000-0000-0000-0000-000000000000}"/>
          </ac:spMkLst>
        </pc:spChg>
      </pc:sldChg>
      <pc:sldChg chg="modSp mod">
        <pc:chgData name="Meiru Che" userId="1c856a9b-779f-4ea1-90ea-56390d32838d" providerId="ADAL" clId="{E75DABD8-4763-465D-A2EF-8973BF10A631}" dt="2024-09-01T06:41:37.561" v="16" actId="20577"/>
        <pc:sldMkLst>
          <pc:docMk/>
          <pc:sldMk cId="4081480369" sldId="340"/>
        </pc:sldMkLst>
        <pc:spChg chg="mod">
          <ac:chgData name="Meiru Che" userId="1c856a9b-779f-4ea1-90ea-56390d32838d" providerId="ADAL" clId="{E75DABD8-4763-465D-A2EF-8973BF10A631}" dt="2024-09-01T06:41:37.561" v="16" actId="20577"/>
          <ac:spMkLst>
            <pc:docMk/>
            <pc:sldMk cId="4081480369" sldId="340"/>
            <ac:spMk id="87043" creationId="{00000000-0000-0000-0000-000000000000}"/>
          </ac:spMkLst>
        </pc:spChg>
      </pc:sldChg>
      <pc:sldChg chg="modSp mod">
        <pc:chgData name="Meiru Che" userId="1c856a9b-779f-4ea1-90ea-56390d32838d" providerId="ADAL" clId="{E75DABD8-4763-465D-A2EF-8973BF10A631}" dt="2024-09-01T06:25:27.505" v="10" actId="20577"/>
        <pc:sldMkLst>
          <pc:docMk/>
          <pc:sldMk cId="3600028255" sldId="351"/>
        </pc:sldMkLst>
        <pc:spChg chg="mod">
          <ac:chgData name="Meiru Che" userId="1c856a9b-779f-4ea1-90ea-56390d32838d" providerId="ADAL" clId="{E75DABD8-4763-465D-A2EF-8973BF10A631}" dt="2024-09-01T06:25:27.505" v="10" actId="20577"/>
          <ac:spMkLst>
            <pc:docMk/>
            <pc:sldMk cId="3600028255" sldId="351"/>
            <ac:spMk id="3" creationId="{00000000-0000-0000-0000-000000000000}"/>
          </ac:spMkLst>
        </pc:spChg>
      </pc:sldChg>
      <pc:sldChg chg="modSp mod">
        <pc:chgData name="Meiru Che" userId="1c856a9b-779f-4ea1-90ea-56390d32838d" providerId="ADAL" clId="{E75DABD8-4763-465D-A2EF-8973BF10A631}" dt="2024-09-01T06:29:47.833" v="14" actId="20577"/>
        <pc:sldMkLst>
          <pc:docMk/>
          <pc:sldMk cId="1578705484" sldId="352"/>
        </pc:sldMkLst>
        <pc:spChg chg="mod">
          <ac:chgData name="Meiru Che" userId="1c856a9b-779f-4ea1-90ea-56390d32838d" providerId="ADAL" clId="{E75DABD8-4763-465D-A2EF-8973BF10A631}" dt="2024-09-01T06:29:47.833" v="14" actId="20577"/>
          <ac:spMkLst>
            <pc:docMk/>
            <pc:sldMk cId="1578705484" sldId="352"/>
            <ac:spMk id="3" creationId="{00000000-0000-0000-0000-000000000000}"/>
          </ac:spMkLst>
        </pc:spChg>
      </pc:sldChg>
      <pc:sldChg chg="modSp mod">
        <pc:chgData name="Meiru Che" userId="1c856a9b-779f-4ea1-90ea-56390d32838d" providerId="ADAL" clId="{E75DABD8-4763-465D-A2EF-8973BF10A631}" dt="2024-09-01T06:30:27.992" v="15" actId="20577"/>
        <pc:sldMkLst>
          <pc:docMk/>
          <pc:sldMk cId="1480769589" sldId="353"/>
        </pc:sldMkLst>
        <pc:spChg chg="mod">
          <ac:chgData name="Meiru Che" userId="1c856a9b-779f-4ea1-90ea-56390d32838d" providerId="ADAL" clId="{E75DABD8-4763-465D-A2EF-8973BF10A631}" dt="2024-09-01T06:30:27.992" v="15" actId="20577"/>
          <ac:spMkLst>
            <pc:docMk/>
            <pc:sldMk cId="1480769589" sldId="353"/>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F6329C5-A603-D44E-9C02-F8582428AA52}" type="datetimeFigureOut">
              <a:rPr lang="en-US" smtClean="0"/>
              <a:t>9/8/25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A27C96F-5831-924A-B18D-82BA09815E97}" type="slidenum">
              <a:rPr lang="en-US" smtClean="0"/>
              <a:t>‹#›</a:t>
            </a:fld>
            <a:endParaRPr lang="en-US" dirty="0"/>
          </a:p>
        </p:txBody>
      </p:sp>
    </p:spTree>
    <p:extLst>
      <p:ext uri="{BB962C8B-B14F-4D97-AF65-F5344CB8AC3E}">
        <p14:creationId xmlns:p14="http://schemas.microsoft.com/office/powerpoint/2010/main" val="12510977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E4A362-3C38-6547-ADB1-7E48AA3F528C}" type="datetimeFigureOut">
              <a:rPr lang="en-US" smtClean="0"/>
              <a:t>9/8/25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26AEBB-7EC7-6E40-BC26-41C89D267C1B}" type="slidenum">
              <a:rPr lang="en-US" smtClean="0"/>
              <a:t>‹#›</a:t>
            </a:fld>
            <a:endParaRPr lang="en-US" dirty="0"/>
          </a:p>
        </p:txBody>
      </p:sp>
    </p:spTree>
    <p:extLst>
      <p:ext uri="{BB962C8B-B14F-4D97-AF65-F5344CB8AC3E}">
        <p14:creationId xmlns:p14="http://schemas.microsoft.com/office/powerpoint/2010/main" val="55789081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ln/>
        </p:spPr>
        <p:txBody>
          <a:bodyPr/>
          <a:lstStyle/>
          <a:p>
            <a:endParaRPr lang="en-US" dirty="0"/>
          </a:p>
        </p:txBody>
      </p:sp>
      <p:sp>
        <p:nvSpPr>
          <p:cNvPr id="9219" name="Rectangle 3"/>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ln/>
        </p:spPr>
        <p:txBody>
          <a:bodyPr/>
          <a:lstStyle/>
          <a:p>
            <a:endParaRPr lang="en-US" dirty="0"/>
          </a:p>
        </p:txBody>
      </p:sp>
      <p:sp>
        <p:nvSpPr>
          <p:cNvPr id="13315" name="Rectangle 3"/>
          <p:cNvSpPr>
            <a:spLocks noGrp="1" noRot="1" noChangeAspect="1" noChangeArrowheads="1" noTextEdit="1"/>
          </p:cNvSpPr>
          <p:nvPr>
            <p:ph type="sldImg"/>
          </p:nvPr>
        </p:nvSpPr>
        <p:spPr>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ln/>
        </p:spPr>
        <p:txBody>
          <a:bodyPr/>
          <a:lstStyle/>
          <a:p>
            <a:endParaRPr lang="en-US" dirty="0"/>
          </a:p>
        </p:txBody>
      </p:sp>
      <p:sp>
        <p:nvSpPr>
          <p:cNvPr id="31747"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6"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6"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6"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7"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9"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5"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4"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7"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dirty="0"/>
              <a:t>Drag picture to placeholder or click icon to add</a:t>
            </a:r>
            <a:endParaRPr lang="en-US" noProof="0" dirty="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7"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6"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r>
              <a:rPr lang="en-US" dirty="0"/>
              <a:t>30/10/2014</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r>
              <a:rPr lang="en-US" dirty="0"/>
              <a:t>Chapter 9 Software Evolution</a:t>
            </a:r>
          </a:p>
        </p:txBody>
      </p:sp>
      <p:sp>
        <p:nvSpPr>
          <p:cNvPr id="6" name="Slide Number Placeholder 5"/>
          <p:cNvSpPr>
            <a:spLocks noGrp="1"/>
          </p:cNvSpPr>
          <p:nvPr>
            <p:ph type="sldNum" sz="quarter" idx="12"/>
          </p:nvPr>
        </p:nvSpPr>
        <p:spPr/>
        <p:txBody>
          <a:bodyPr/>
          <a:lstStyle>
            <a:lvl1pPr>
              <a:defRPr/>
            </a:lvl1pPr>
          </a:lstStyle>
          <a:p>
            <a:fld id="{C8735F24-F0A4-DB4E-AAD6-0E2C6B4C4636}" type="slidenum">
              <a:rPr lang="en-US" smtClean="0"/>
              <a:pPr/>
              <a:t>‹#›</a:t>
            </a:fld>
            <a:endParaRPr lang="en-US" dirty="0"/>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C8735F24-F0A4-DB4E-AAD6-0E2C6B4C463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spd="med">
    <p:wipe dir="r"/>
  </p:transition>
  <p:hf hdr="0" ft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8735F24-F0A4-DB4E-AAD6-0E2C6B4C4636}" type="slidenum">
              <a:rPr lang="en-US" smtClean="0"/>
              <a:pPr/>
              <a:t>1</a:t>
            </a:fld>
            <a:endParaRPr lang="en-US" dirty="0"/>
          </a:p>
        </p:txBody>
      </p:sp>
      <p:sp>
        <p:nvSpPr>
          <p:cNvPr id="5" name="Title 1">
            <a:extLst>
              <a:ext uri="{FF2B5EF4-FFF2-40B4-BE49-F238E27FC236}">
                <a16:creationId xmlns:a16="http://schemas.microsoft.com/office/drawing/2014/main" id="{23BA5E4C-0CAA-76A2-0662-5A2419A55324}"/>
              </a:ext>
            </a:extLst>
          </p:cNvPr>
          <p:cNvSpPr txBox="1">
            <a:spLocks/>
          </p:cNvSpPr>
          <p:nvPr/>
        </p:nvSpPr>
        <p:spPr bwMode="auto">
          <a:xfrm>
            <a:off x="415413" y="2352576"/>
            <a:ext cx="8313174"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a:lstStyle>
          <a:p>
            <a:pPr algn="ctr"/>
            <a:r>
              <a:rPr lang="en-US" sz="3800" dirty="0">
                <a:solidFill>
                  <a:srgbClr val="FF0000"/>
                </a:solidFill>
              </a:rPr>
              <a:t>COIT20258 Software Engineering</a:t>
            </a:r>
          </a:p>
        </p:txBody>
      </p:sp>
      <p:sp>
        <p:nvSpPr>
          <p:cNvPr id="6" name="Title 1">
            <a:extLst>
              <a:ext uri="{FF2B5EF4-FFF2-40B4-BE49-F238E27FC236}">
                <a16:creationId xmlns:a16="http://schemas.microsoft.com/office/drawing/2014/main" id="{F6596952-2874-4B24-8B59-4175606D642B}"/>
              </a:ext>
            </a:extLst>
          </p:cNvPr>
          <p:cNvSpPr txBox="1">
            <a:spLocks/>
          </p:cNvSpPr>
          <p:nvPr/>
        </p:nvSpPr>
        <p:spPr bwMode="auto">
          <a:xfrm>
            <a:off x="817211" y="3789487"/>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a:lstStyle>
          <a:p>
            <a:pPr algn="ctr">
              <a:spcAft>
                <a:spcPts val="1200"/>
              </a:spcAft>
            </a:pPr>
            <a:r>
              <a:rPr lang="en-US" sz="3200" dirty="0">
                <a:solidFill>
                  <a:srgbClr val="7030A0"/>
                </a:solidFill>
              </a:rPr>
              <a:t>Week 8</a:t>
            </a:r>
          </a:p>
          <a:p>
            <a:pPr algn="ctr">
              <a:spcAft>
                <a:spcPts val="1200"/>
              </a:spcAft>
            </a:pPr>
            <a:r>
              <a:rPr lang="en-US" sz="3200" dirty="0">
                <a:solidFill>
                  <a:srgbClr val="7030A0"/>
                </a:solidFill>
              </a:rPr>
              <a:t>Software Evolution</a:t>
            </a:r>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781" y="342107"/>
            <a:ext cx="7293232" cy="1143000"/>
          </a:xfrm>
        </p:spPr>
        <p:txBody>
          <a:bodyPr/>
          <a:lstStyle/>
          <a:p>
            <a:r>
              <a:rPr lang="en-US" sz="3200" dirty="0">
                <a:solidFill>
                  <a:srgbClr val="FF0000"/>
                </a:solidFill>
              </a:rPr>
              <a:t>Topics</a:t>
            </a:r>
          </a:p>
        </p:txBody>
      </p:sp>
      <p:sp>
        <p:nvSpPr>
          <p:cNvPr id="3" name="Content Placeholder 2"/>
          <p:cNvSpPr>
            <a:spLocks noGrp="1"/>
          </p:cNvSpPr>
          <p:nvPr>
            <p:ph idx="1"/>
          </p:nvPr>
        </p:nvSpPr>
        <p:spPr>
          <a:xfrm>
            <a:off x="592931" y="1657747"/>
            <a:ext cx="8229600" cy="4525963"/>
          </a:xfrm>
        </p:spPr>
        <p:txBody>
          <a:bodyPr/>
          <a:lstStyle/>
          <a:p>
            <a:r>
              <a:rPr lang="en-US" dirty="0"/>
              <a:t>Evolution processes</a:t>
            </a:r>
          </a:p>
          <a:p>
            <a:r>
              <a:rPr lang="en-US" dirty="0"/>
              <a:t>Legacy systems</a:t>
            </a:r>
          </a:p>
          <a:p>
            <a:r>
              <a:rPr lang="en-US" dirty="0"/>
              <a:t>Software maintenance</a:t>
            </a:r>
          </a:p>
        </p:txBody>
      </p:sp>
      <p:sp>
        <p:nvSpPr>
          <p:cNvPr id="6" name="Slide Number Placeholder 5"/>
          <p:cNvSpPr>
            <a:spLocks noGrp="1"/>
          </p:cNvSpPr>
          <p:nvPr>
            <p:ph type="sldNum" sz="quarter" idx="12"/>
          </p:nvPr>
        </p:nvSpPr>
        <p:spPr/>
        <p:txBody>
          <a:bodyPr/>
          <a:lstStyle/>
          <a:p>
            <a:fld id="{C8735F24-F0A4-DB4E-AAD6-0E2C6B4C4636}" type="slidenum">
              <a:rPr lang="en-US" smtClean="0"/>
              <a:pPr/>
              <a:t>2</a:t>
            </a:fld>
            <a:endParaRPr lang="en-US" dirty="0"/>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GB" sz="3200" dirty="0">
                <a:solidFill>
                  <a:srgbClr val="FF0000"/>
                </a:solidFill>
              </a:rPr>
              <a:t>Life-cycle vs Evolution </a:t>
            </a:r>
          </a:p>
        </p:txBody>
      </p:sp>
      <p:sp>
        <p:nvSpPr>
          <p:cNvPr id="66563" name="Rectangle 3"/>
          <p:cNvSpPr>
            <a:spLocks noGrp="1" noChangeArrowheads="1"/>
          </p:cNvSpPr>
          <p:nvPr>
            <p:ph idx="1"/>
          </p:nvPr>
        </p:nvSpPr>
        <p:spPr>
          <a:xfrm>
            <a:off x="457200" y="2805914"/>
            <a:ext cx="8229600" cy="1660890"/>
          </a:xfrm>
        </p:spPr>
        <p:txBody>
          <a:bodyPr/>
          <a:lstStyle/>
          <a:p>
            <a:pPr marL="0" indent="0" algn="ctr">
              <a:buNone/>
            </a:pPr>
            <a:r>
              <a:rPr lang="en-GB" sz="3200" b="1" dirty="0">
                <a:solidFill>
                  <a:srgbClr val="009051"/>
                </a:solidFill>
              </a:rPr>
              <a:t>Evolution</a:t>
            </a:r>
          </a:p>
          <a:p>
            <a:pPr marL="0" indent="0" algn="ctr">
              <a:buNone/>
            </a:pPr>
            <a:r>
              <a:rPr lang="en-GB" sz="3000" dirty="0"/>
              <a:t>“Small changes over many generations”</a:t>
            </a:r>
          </a:p>
        </p:txBody>
      </p:sp>
      <p:sp>
        <p:nvSpPr>
          <p:cNvPr id="6" name="Slide Number Placeholder 5"/>
          <p:cNvSpPr>
            <a:spLocks noGrp="1"/>
          </p:cNvSpPr>
          <p:nvPr>
            <p:ph type="sldNum" sz="quarter" idx="12"/>
          </p:nvPr>
        </p:nvSpPr>
        <p:spPr/>
        <p:txBody>
          <a:bodyPr/>
          <a:lstStyle/>
          <a:p>
            <a:fld id="{C8735F24-F0A4-DB4E-AAD6-0E2C6B4C4636}" type="slidenum">
              <a:rPr lang="en-US" smtClean="0"/>
              <a:pPr/>
              <a:t>3</a:t>
            </a:fld>
            <a:endParaRPr lang="en-US" dirty="0"/>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GB" sz="3200" dirty="0">
                <a:solidFill>
                  <a:srgbClr val="FF0000"/>
                </a:solidFill>
              </a:rPr>
              <a:t>Software Change</a:t>
            </a:r>
          </a:p>
        </p:txBody>
      </p:sp>
      <p:sp>
        <p:nvSpPr>
          <p:cNvPr id="66563" name="Rectangle 3"/>
          <p:cNvSpPr>
            <a:spLocks noGrp="1" noChangeArrowheads="1"/>
          </p:cNvSpPr>
          <p:nvPr>
            <p:ph idx="1"/>
          </p:nvPr>
        </p:nvSpPr>
        <p:spPr/>
        <p:txBody>
          <a:bodyPr/>
          <a:lstStyle/>
          <a:p>
            <a:r>
              <a:rPr lang="en-GB" sz="2400" dirty="0"/>
              <a:t>Software change is inevitable because:</a:t>
            </a:r>
          </a:p>
          <a:p>
            <a:pPr lvl="1"/>
            <a:r>
              <a:rPr lang="en-GB" sz="2000" dirty="0"/>
              <a:t>New requirements emerge when the software is used</a:t>
            </a:r>
          </a:p>
          <a:p>
            <a:pPr lvl="1"/>
            <a:r>
              <a:rPr lang="en-GB" sz="2000" dirty="0"/>
              <a:t>The business environment changes</a:t>
            </a:r>
          </a:p>
          <a:p>
            <a:pPr lvl="1"/>
            <a:r>
              <a:rPr lang="en-GB" sz="2000" dirty="0"/>
              <a:t>Errors must be repaired</a:t>
            </a:r>
          </a:p>
          <a:p>
            <a:pPr lvl="1"/>
            <a:r>
              <a:rPr lang="en-GB" sz="2000" dirty="0"/>
              <a:t>New computers &amp; equipment is added to the system</a:t>
            </a:r>
          </a:p>
          <a:p>
            <a:pPr lvl="1"/>
            <a:r>
              <a:rPr lang="en-GB" sz="2000" dirty="0"/>
              <a:t>The performance or reliability of the system may have to be improved</a:t>
            </a:r>
          </a:p>
          <a:p>
            <a:r>
              <a:rPr lang="en-GB" sz="2400" dirty="0"/>
              <a:t>A key problem for all organizations is implementing &amp; managing change to their existing software systems</a:t>
            </a:r>
          </a:p>
        </p:txBody>
      </p:sp>
      <p:sp>
        <p:nvSpPr>
          <p:cNvPr id="6" name="Slide Number Placeholder 5"/>
          <p:cNvSpPr>
            <a:spLocks noGrp="1"/>
          </p:cNvSpPr>
          <p:nvPr>
            <p:ph type="sldNum" sz="quarter" idx="12"/>
          </p:nvPr>
        </p:nvSpPr>
        <p:spPr/>
        <p:txBody>
          <a:bodyPr/>
          <a:lstStyle/>
          <a:p>
            <a:fld id="{C8735F24-F0A4-DB4E-AAD6-0E2C6B4C4636}" type="slidenum">
              <a:rPr lang="en-US" smtClean="0"/>
              <a:pPr/>
              <a:t>4</a:t>
            </a:fld>
            <a:endParaRPr lang="en-US" dirty="0"/>
          </a:p>
        </p:txBody>
      </p:sp>
    </p:spTree>
    <p:extLst>
      <p:ext uri="{BB962C8B-B14F-4D97-AF65-F5344CB8AC3E}">
        <p14:creationId xmlns:p14="http://schemas.microsoft.com/office/powerpoint/2010/main" val="1236240927"/>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457200" y="342107"/>
            <a:ext cx="7293232" cy="1143000"/>
          </a:xfrm>
        </p:spPr>
        <p:txBody>
          <a:bodyPr/>
          <a:lstStyle/>
          <a:p>
            <a:r>
              <a:rPr lang="en-US" sz="3200" dirty="0">
                <a:solidFill>
                  <a:srgbClr val="FF0000"/>
                </a:solidFill>
              </a:rPr>
              <a:t>Importance of Evolution</a:t>
            </a:r>
          </a:p>
        </p:txBody>
      </p:sp>
      <p:sp>
        <p:nvSpPr>
          <p:cNvPr id="91139" name="Rectangle 3"/>
          <p:cNvSpPr>
            <a:spLocks noGrp="1" noChangeArrowheads="1"/>
          </p:cNvSpPr>
          <p:nvPr>
            <p:ph idx="1"/>
          </p:nvPr>
        </p:nvSpPr>
        <p:spPr/>
        <p:txBody>
          <a:bodyPr/>
          <a:lstStyle/>
          <a:p>
            <a:pPr>
              <a:lnSpc>
                <a:spcPct val="90000"/>
              </a:lnSpc>
            </a:pPr>
            <a:r>
              <a:rPr lang="en-US" dirty="0"/>
              <a:t>Organizations have huge investments in their software systems - they are critical business assets</a:t>
            </a:r>
          </a:p>
          <a:p>
            <a:pPr>
              <a:lnSpc>
                <a:spcPct val="90000"/>
              </a:lnSpc>
            </a:pPr>
            <a:r>
              <a:rPr lang="en-US" dirty="0"/>
              <a:t>To maintain the value of these assets to the business, they must be changed &amp; updated</a:t>
            </a:r>
          </a:p>
          <a:p>
            <a:pPr>
              <a:lnSpc>
                <a:spcPct val="90000"/>
              </a:lnSpc>
            </a:pPr>
            <a:r>
              <a:rPr lang="en-US" dirty="0"/>
              <a:t>The majority of the software budget in large companies is devoted to changing &amp; evolving existing software rather than developing new software</a:t>
            </a:r>
          </a:p>
        </p:txBody>
      </p:sp>
      <p:sp>
        <p:nvSpPr>
          <p:cNvPr id="6" name="Slide Number Placeholder 5"/>
          <p:cNvSpPr>
            <a:spLocks noGrp="1"/>
          </p:cNvSpPr>
          <p:nvPr>
            <p:ph type="sldNum" sz="quarter" idx="12"/>
          </p:nvPr>
        </p:nvSpPr>
        <p:spPr/>
        <p:txBody>
          <a:bodyPr/>
          <a:lstStyle/>
          <a:p>
            <a:fld id="{C8735F24-F0A4-DB4E-AAD6-0E2C6B4C4636}" type="slidenum">
              <a:rPr lang="en-US" smtClean="0"/>
              <a:pPr/>
              <a:t>5</a:t>
            </a:fld>
            <a:endParaRPr lang="en-US" dirty="0"/>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Evolution &amp; Servicing</a:t>
            </a:r>
            <a:r>
              <a:rPr lang="en-GB" sz="3200" dirty="0">
                <a:solidFill>
                  <a:srgbClr val="FF0000"/>
                </a:solidFill>
              </a:rPr>
              <a:t> </a:t>
            </a:r>
            <a:endParaRPr lang="en-US" sz="3200" dirty="0">
              <a:solidFill>
                <a:srgbClr val="FF0000"/>
              </a:solidFill>
            </a:endParaRPr>
          </a:p>
        </p:txBody>
      </p:sp>
      <p:sp>
        <p:nvSpPr>
          <p:cNvPr id="7" name="Slide Number Placeholder 6"/>
          <p:cNvSpPr>
            <a:spLocks noGrp="1"/>
          </p:cNvSpPr>
          <p:nvPr>
            <p:ph type="sldNum" sz="quarter" idx="12"/>
          </p:nvPr>
        </p:nvSpPr>
        <p:spPr/>
        <p:txBody>
          <a:bodyPr/>
          <a:lstStyle/>
          <a:p>
            <a:fld id="{C8735F24-F0A4-DB4E-AAD6-0E2C6B4C4636}" type="slidenum">
              <a:rPr lang="en-US" smtClean="0"/>
              <a:pPr/>
              <a:t>6</a:t>
            </a:fld>
            <a:endParaRPr lang="en-US" dirty="0"/>
          </a:p>
        </p:txBody>
      </p:sp>
      <p:pic>
        <p:nvPicPr>
          <p:cNvPr id="5" name="Picture 4" descr="9.2 Evolution Servic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329" y="2701786"/>
            <a:ext cx="8064456" cy="1859171"/>
          </a:xfrm>
          <a:prstGeom prst="rect">
            <a:avLst/>
          </a:prstGeom>
        </p:spPr>
      </p:pic>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 Evolution &amp; Servicing</a:t>
            </a:r>
          </a:p>
        </p:txBody>
      </p:sp>
      <p:sp>
        <p:nvSpPr>
          <p:cNvPr id="3" name="Content Placeholder 2"/>
          <p:cNvSpPr>
            <a:spLocks noGrp="1"/>
          </p:cNvSpPr>
          <p:nvPr>
            <p:ph idx="1"/>
          </p:nvPr>
        </p:nvSpPr>
        <p:spPr/>
        <p:txBody>
          <a:bodyPr/>
          <a:lstStyle/>
          <a:p>
            <a:r>
              <a:rPr lang="en-US" dirty="0">
                <a:solidFill>
                  <a:srgbClr val="009051"/>
                </a:solidFill>
              </a:rPr>
              <a:t>Evolution</a:t>
            </a:r>
          </a:p>
          <a:p>
            <a:pPr lvl="1"/>
            <a:r>
              <a:rPr lang="en-US" dirty="0"/>
              <a:t>New features or requirements are added to the system that results in a new version release</a:t>
            </a:r>
          </a:p>
          <a:p>
            <a:r>
              <a:rPr lang="en-US" dirty="0">
                <a:solidFill>
                  <a:srgbClr val="009051"/>
                </a:solidFill>
              </a:rPr>
              <a:t>Servicing</a:t>
            </a:r>
          </a:p>
          <a:p>
            <a:pPr lvl="1"/>
            <a:r>
              <a:rPr lang="en-US" dirty="0"/>
              <a:t>At this stage, the software remains useful but the only changes made are those required to keep it operational i.e. bug fixes &amp; changes to reflect changes in the software’s environment. No new functionality is added.</a:t>
            </a:r>
          </a:p>
          <a:p>
            <a:r>
              <a:rPr lang="en-US" dirty="0">
                <a:solidFill>
                  <a:srgbClr val="009051"/>
                </a:solidFill>
              </a:rPr>
              <a:t>Phase-out (retirement)</a:t>
            </a:r>
          </a:p>
          <a:p>
            <a:pPr lvl="1"/>
            <a:r>
              <a:rPr lang="en-US" dirty="0"/>
              <a:t>The software may still be used but no further changes are made to it</a:t>
            </a:r>
          </a:p>
        </p:txBody>
      </p:sp>
      <p:sp>
        <p:nvSpPr>
          <p:cNvPr id="6" name="Slide Number Placeholder 5"/>
          <p:cNvSpPr>
            <a:spLocks noGrp="1"/>
          </p:cNvSpPr>
          <p:nvPr>
            <p:ph type="sldNum" sz="quarter" idx="12"/>
          </p:nvPr>
        </p:nvSpPr>
        <p:spPr/>
        <p:txBody>
          <a:bodyPr/>
          <a:lstStyle/>
          <a:p>
            <a:fld id="{C8735F24-F0A4-DB4E-AAD6-0E2C6B4C4636}" type="slidenum">
              <a:rPr lang="en-US" smtClean="0"/>
              <a:pPr/>
              <a:t>7</a:t>
            </a:fld>
            <a:endParaRPr lang="en-US" dirty="0"/>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sz="3200" dirty="0">
                <a:solidFill>
                  <a:srgbClr val="FF0000"/>
                </a:solidFill>
              </a:rPr>
              <a:t>Evolution Processes</a:t>
            </a:r>
          </a:p>
        </p:txBody>
      </p:sp>
      <p:sp>
        <p:nvSpPr>
          <p:cNvPr id="93187" name="Rectangle 3"/>
          <p:cNvSpPr>
            <a:spLocks noGrp="1" noChangeArrowheads="1"/>
          </p:cNvSpPr>
          <p:nvPr>
            <p:ph idx="1"/>
          </p:nvPr>
        </p:nvSpPr>
        <p:spPr>
          <a:xfrm>
            <a:off x="510988" y="1472452"/>
            <a:ext cx="8229600" cy="4525963"/>
          </a:xfrm>
        </p:spPr>
        <p:txBody>
          <a:bodyPr/>
          <a:lstStyle/>
          <a:p>
            <a:r>
              <a:rPr lang="en-US" dirty="0"/>
              <a:t>Proposals for change are the driver for system evolution</a:t>
            </a:r>
          </a:p>
          <a:p>
            <a:pPr lvl="1"/>
            <a:r>
              <a:rPr lang="en-US" dirty="0"/>
              <a:t>Should be linked with components that are affected by the change, thus allowing the cost &amp; impact of the change to be estimated</a:t>
            </a:r>
          </a:p>
          <a:p>
            <a:r>
              <a:rPr lang="en-US" dirty="0"/>
              <a:t>Change identification &amp; evolution continues throughout the system lifetime</a:t>
            </a:r>
          </a:p>
        </p:txBody>
      </p:sp>
      <p:sp>
        <p:nvSpPr>
          <p:cNvPr id="6" name="Slide Number Placeholder 5"/>
          <p:cNvSpPr>
            <a:spLocks noGrp="1"/>
          </p:cNvSpPr>
          <p:nvPr>
            <p:ph type="sldNum" sz="quarter" idx="12"/>
          </p:nvPr>
        </p:nvSpPr>
        <p:spPr/>
        <p:txBody>
          <a:bodyPr/>
          <a:lstStyle/>
          <a:p>
            <a:fld id="{C8735F24-F0A4-DB4E-AAD6-0E2C6B4C4636}" type="slidenum">
              <a:rPr lang="en-US" smtClean="0"/>
              <a:pPr/>
              <a:t>8</a:t>
            </a:fld>
            <a:endParaRPr lang="en-US" dirty="0"/>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Change Identification &amp; Evolution Processes</a:t>
            </a:r>
            <a:r>
              <a:rPr lang="en-GB" sz="3200" dirty="0">
                <a:solidFill>
                  <a:srgbClr val="FF0000"/>
                </a:solidFill>
              </a:rPr>
              <a:t> </a:t>
            </a:r>
            <a:endParaRPr lang="en-US" sz="3200" dirty="0">
              <a:solidFill>
                <a:srgbClr val="FF0000"/>
              </a:solidFill>
            </a:endParaRPr>
          </a:p>
        </p:txBody>
      </p:sp>
      <p:pic>
        <p:nvPicPr>
          <p:cNvPr id="4" name="Content Placeholder 3" descr="9.3 ChangeEvolProc.eps"/>
          <p:cNvPicPr>
            <a:picLocks noGrp="1" noChangeAspect="1"/>
          </p:cNvPicPr>
          <p:nvPr>
            <p:ph idx="1"/>
          </p:nvPr>
        </p:nvPicPr>
        <p:blipFill>
          <a:blip r:embed="rId2"/>
          <a:srcRect l="-7888" r="-7888"/>
          <a:stretch>
            <a:fillRect/>
          </a:stretch>
        </p:blipFill>
        <p:spPr>
          <a:xfrm>
            <a:off x="1200848" y="1966341"/>
            <a:ext cx="6350032" cy="3492273"/>
          </a:xfrm>
        </p:spPr>
      </p:pic>
      <p:sp>
        <p:nvSpPr>
          <p:cNvPr id="7" name="Slide Number Placeholder 6"/>
          <p:cNvSpPr>
            <a:spLocks noGrp="1"/>
          </p:cNvSpPr>
          <p:nvPr>
            <p:ph type="sldNum" sz="quarter" idx="12"/>
          </p:nvPr>
        </p:nvSpPr>
        <p:spPr/>
        <p:txBody>
          <a:bodyPr/>
          <a:lstStyle/>
          <a:p>
            <a:fld id="{C8735F24-F0A4-DB4E-AAD6-0E2C6B4C4636}" type="slidenum">
              <a:rPr lang="en-US" smtClean="0"/>
              <a:pPr/>
              <a:t>9</a:t>
            </a:fld>
            <a:endParaRPr lang="en-US" dirty="0"/>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The Software Evolution Process</a:t>
            </a:r>
            <a:r>
              <a:rPr lang="en-GB" sz="3200" dirty="0">
                <a:solidFill>
                  <a:srgbClr val="FF0000"/>
                </a:solidFill>
              </a:rPr>
              <a:t> </a:t>
            </a:r>
            <a:endParaRPr lang="en-US" sz="3200" dirty="0">
              <a:solidFill>
                <a:srgbClr val="FF0000"/>
              </a:solidFill>
            </a:endParaRPr>
          </a:p>
        </p:txBody>
      </p:sp>
      <p:sp>
        <p:nvSpPr>
          <p:cNvPr id="7" name="Slide Number Placeholder 6"/>
          <p:cNvSpPr>
            <a:spLocks noGrp="1"/>
          </p:cNvSpPr>
          <p:nvPr>
            <p:ph type="sldNum" sz="quarter" idx="12"/>
          </p:nvPr>
        </p:nvSpPr>
        <p:spPr/>
        <p:txBody>
          <a:bodyPr/>
          <a:lstStyle/>
          <a:p>
            <a:fld id="{C8735F24-F0A4-DB4E-AAD6-0E2C6B4C4636}" type="slidenum">
              <a:rPr lang="en-US" smtClean="0"/>
              <a:pPr/>
              <a:t>10</a:t>
            </a:fld>
            <a:endParaRPr lang="en-US" dirty="0"/>
          </a:p>
        </p:txBody>
      </p:sp>
      <p:pic>
        <p:nvPicPr>
          <p:cNvPr id="5" name="Picture 4" descr="9.4 Evolution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61" y="2462142"/>
            <a:ext cx="8505504" cy="2319683"/>
          </a:xfrm>
          <a:prstGeom prst="rect">
            <a:avLst/>
          </a:prstGeom>
        </p:spPr>
      </p:pic>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sz="3200" dirty="0">
                <a:solidFill>
                  <a:srgbClr val="FF0000"/>
                </a:solidFill>
              </a:rPr>
              <a:t>Urgent Change Requests</a:t>
            </a:r>
          </a:p>
        </p:txBody>
      </p:sp>
      <p:sp>
        <p:nvSpPr>
          <p:cNvPr id="104451" name="Rectangle 3"/>
          <p:cNvSpPr>
            <a:spLocks noGrp="1" noChangeArrowheads="1"/>
          </p:cNvSpPr>
          <p:nvPr>
            <p:ph idx="1"/>
          </p:nvPr>
        </p:nvSpPr>
        <p:spPr/>
        <p:txBody>
          <a:bodyPr/>
          <a:lstStyle/>
          <a:p>
            <a:r>
              <a:rPr lang="en-US" dirty="0"/>
              <a:t>Urgent changes may have to be implemented without going through all stages of the software engineering process</a:t>
            </a:r>
          </a:p>
          <a:p>
            <a:pPr lvl="1"/>
            <a:r>
              <a:rPr lang="en-US" dirty="0"/>
              <a:t>If a serious system fault has to be repaired to allow normal operation to continue</a:t>
            </a:r>
          </a:p>
          <a:p>
            <a:pPr lvl="1"/>
            <a:r>
              <a:rPr lang="en-US" dirty="0"/>
              <a:t>If changes to the system’s environment (e.g., an OS upgrade) have unexpected effects</a:t>
            </a:r>
          </a:p>
          <a:p>
            <a:pPr lvl="1"/>
            <a:r>
              <a:rPr lang="en-US" dirty="0"/>
              <a:t>If there are business changes that require a very rapid response (e.g. the release of a competing product)</a:t>
            </a:r>
          </a:p>
        </p:txBody>
      </p:sp>
      <p:sp>
        <p:nvSpPr>
          <p:cNvPr id="6" name="Slide Number Placeholder 5"/>
          <p:cNvSpPr>
            <a:spLocks noGrp="1"/>
          </p:cNvSpPr>
          <p:nvPr>
            <p:ph type="sldNum" sz="quarter" idx="12"/>
          </p:nvPr>
        </p:nvSpPr>
        <p:spPr/>
        <p:txBody>
          <a:bodyPr/>
          <a:lstStyle/>
          <a:p>
            <a:fld id="{C8735F24-F0A4-DB4E-AAD6-0E2C6B4C4636}" type="slidenum">
              <a:rPr lang="en-US" smtClean="0"/>
              <a:pPr/>
              <a:t>11</a:t>
            </a:fld>
            <a:endParaRPr lang="en-US" dirty="0"/>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The Emergency Repair Process</a:t>
            </a:r>
          </a:p>
        </p:txBody>
      </p:sp>
      <p:pic>
        <p:nvPicPr>
          <p:cNvPr id="4" name="Content Placeholder 3" descr="9.6 EmergencyRepair.eps"/>
          <p:cNvPicPr>
            <a:picLocks noGrp="1" noChangeAspect="1"/>
          </p:cNvPicPr>
          <p:nvPr>
            <p:ph idx="1"/>
          </p:nvPr>
        </p:nvPicPr>
        <p:blipFill>
          <a:blip r:embed="rId2"/>
          <a:srcRect t="-212562" b="-212562"/>
          <a:stretch>
            <a:fillRect/>
          </a:stretch>
        </p:blipFill>
        <p:spPr>
          <a:xfrm>
            <a:off x="725738" y="1580164"/>
            <a:ext cx="7699614" cy="4234490"/>
          </a:xfrm>
        </p:spPr>
      </p:pic>
      <p:sp>
        <p:nvSpPr>
          <p:cNvPr id="7" name="Slide Number Placeholder 6"/>
          <p:cNvSpPr>
            <a:spLocks noGrp="1"/>
          </p:cNvSpPr>
          <p:nvPr>
            <p:ph type="sldNum" sz="quarter" idx="12"/>
          </p:nvPr>
        </p:nvSpPr>
        <p:spPr/>
        <p:txBody>
          <a:bodyPr/>
          <a:lstStyle/>
          <a:p>
            <a:fld id="{C8735F24-F0A4-DB4E-AAD6-0E2C6B4C4636}" type="slidenum">
              <a:rPr lang="en-US" smtClean="0"/>
              <a:pPr/>
              <a:t>12</a:t>
            </a:fld>
            <a:endParaRPr lang="en-US" dirty="0"/>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Agile Methods &amp; Evolution</a:t>
            </a:r>
          </a:p>
        </p:txBody>
      </p:sp>
      <p:sp>
        <p:nvSpPr>
          <p:cNvPr id="3" name="Content Placeholder 2"/>
          <p:cNvSpPr>
            <a:spLocks noGrp="1"/>
          </p:cNvSpPr>
          <p:nvPr>
            <p:ph idx="1"/>
          </p:nvPr>
        </p:nvSpPr>
        <p:spPr/>
        <p:txBody>
          <a:bodyPr/>
          <a:lstStyle/>
          <a:p>
            <a:r>
              <a:rPr lang="en-US" dirty="0"/>
              <a:t>Agile methods are based on incremental development so the transition from development to evolution is a seamless one</a:t>
            </a:r>
          </a:p>
          <a:p>
            <a:pPr lvl="1"/>
            <a:r>
              <a:rPr lang="en-US" dirty="0"/>
              <a:t>Evolution is simply a continuation of the development process based on frequent system releases</a:t>
            </a:r>
          </a:p>
          <a:p>
            <a:r>
              <a:rPr lang="en-US" dirty="0"/>
              <a:t>Changes may be expressed as additional user stories</a:t>
            </a:r>
          </a:p>
        </p:txBody>
      </p:sp>
      <p:sp>
        <p:nvSpPr>
          <p:cNvPr id="6" name="Slide Number Placeholder 5"/>
          <p:cNvSpPr>
            <a:spLocks noGrp="1"/>
          </p:cNvSpPr>
          <p:nvPr>
            <p:ph type="sldNum" sz="quarter" idx="12"/>
          </p:nvPr>
        </p:nvSpPr>
        <p:spPr/>
        <p:txBody>
          <a:bodyPr/>
          <a:lstStyle/>
          <a:p>
            <a:fld id="{C8735F24-F0A4-DB4E-AAD6-0E2C6B4C4636}" type="slidenum">
              <a:rPr lang="en-US" smtClean="0"/>
              <a:pPr/>
              <a:t>13</a:t>
            </a:fld>
            <a:endParaRPr lang="en-US" dirty="0"/>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380" y="302016"/>
            <a:ext cx="7293232" cy="1143000"/>
          </a:xfrm>
        </p:spPr>
        <p:txBody>
          <a:bodyPr/>
          <a:lstStyle/>
          <a:p>
            <a:r>
              <a:rPr lang="en-US" sz="3200" dirty="0">
                <a:solidFill>
                  <a:srgbClr val="FF0000"/>
                </a:solidFill>
              </a:rPr>
              <a:t>Legacy Systems</a:t>
            </a:r>
          </a:p>
        </p:txBody>
      </p:sp>
      <p:sp>
        <p:nvSpPr>
          <p:cNvPr id="3" name="Content Placeholder 2"/>
          <p:cNvSpPr>
            <a:spLocks noGrp="1"/>
          </p:cNvSpPr>
          <p:nvPr>
            <p:ph idx="1"/>
          </p:nvPr>
        </p:nvSpPr>
        <p:spPr/>
        <p:txBody>
          <a:bodyPr/>
          <a:lstStyle/>
          <a:p>
            <a:r>
              <a:rPr lang="en-GB" dirty="0"/>
              <a:t>Legacy systems are older systems that rely on languages &amp; technology that are no longer used for new systems development </a:t>
            </a:r>
          </a:p>
          <a:p>
            <a:r>
              <a:rPr lang="en-GB" dirty="0"/>
              <a:t>Legacy software may be dependent on older hardware, such as mainframe computers &amp; may have associated legacy processes &amp; procedures</a:t>
            </a:r>
          </a:p>
        </p:txBody>
      </p:sp>
      <p:sp>
        <p:nvSpPr>
          <p:cNvPr id="5" name="Slide Number Placeholder 4"/>
          <p:cNvSpPr>
            <a:spLocks noGrp="1"/>
          </p:cNvSpPr>
          <p:nvPr>
            <p:ph type="sldNum" sz="quarter" idx="12"/>
          </p:nvPr>
        </p:nvSpPr>
        <p:spPr/>
        <p:txBody>
          <a:bodyPr/>
          <a:lstStyle/>
          <a:p>
            <a:fld id="{C8735F24-F0A4-DB4E-AAD6-0E2C6B4C4636}" type="slidenum">
              <a:rPr lang="en-US" smtClean="0"/>
              <a:pPr/>
              <a:t>14</a:t>
            </a:fld>
            <a:endParaRPr lang="en-US" dirty="0"/>
          </a:p>
        </p:txBody>
      </p:sp>
    </p:spTree>
    <p:extLst>
      <p:ext uri="{BB962C8B-B14F-4D97-AF65-F5344CB8AC3E}">
        <p14:creationId xmlns:p14="http://schemas.microsoft.com/office/powerpoint/2010/main" val="2438204371"/>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The Elements of a Legacy System</a:t>
            </a:r>
          </a:p>
        </p:txBody>
      </p:sp>
      <p:sp>
        <p:nvSpPr>
          <p:cNvPr id="5" name="Slide Number Placeholder 4"/>
          <p:cNvSpPr>
            <a:spLocks noGrp="1"/>
          </p:cNvSpPr>
          <p:nvPr>
            <p:ph type="sldNum" sz="quarter" idx="12"/>
          </p:nvPr>
        </p:nvSpPr>
        <p:spPr/>
        <p:txBody>
          <a:bodyPr/>
          <a:lstStyle/>
          <a:p>
            <a:fld id="{C8735F24-F0A4-DB4E-AAD6-0E2C6B4C4636}" type="slidenum">
              <a:rPr lang="en-US" smtClean="0"/>
              <a:pPr/>
              <a:t>15</a:t>
            </a:fld>
            <a:endParaRPr lang="en-US" dirty="0"/>
          </a:p>
        </p:txBody>
      </p:sp>
      <p:pic>
        <p:nvPicPr>
          <p:cNvPr id="6" name="Picture 5" descr="9.7 Legacy system component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456" y="2114826"/>
            <a:ext cx="7631503" cy="2954130"/>
          </a:xfrm>
          <a:prstGeom prst="rect">
            <a:avLst/>
          </a:prstGeom>
        </p:spPr>
      </p:pic>
    </p:spTree>
    <p:extLst>
      <p:ext uri="{BB962C8B-B14F-4D97-AF65-F5344CB8AC3E}">
        <p14:creationId xmlns:p14="http://schemas.microsoft.com/office/powerpoint/2010/main" val="756455494"/>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Legacy System Components</a:t>
            </a:r>
          </a:p>
        </p:txBody>
      </p:sp>
      <p:sp>
        <p:nvSpPr>
          <p:cNvPr id="3" name="Content Placeholder 2"/>
          <p:cNvSpPr>
            <a:spLocks noGrp="1"/>
          </p:cNvSpPr>
          <p:nvPr>
            <p:ph idx="1"/>
          </p:nvPr>
        </p:nvSpPr>
        <p:spPr>
          <a:xfrm>
            <a:off x="457200" y="1526242"/>
            <a:ext cx="8229600" cy="4525963"/>
          </a:xfrm>
        </p:spPr>
        <p:txBody>
          <a:bodyPr/>
          <a:lstStyle/>
          <a:p>
            <a:r>
              <a:rPr lang="en-GB" i="1" dirty="0">
                <a:solidFill>
                  <a:srgbClr val="009051"/>
                </a:solidFill>
              </a:rPr>
              <a:t>System hardware</a:t>
            </a:r>
            <a:r>
              <a:rPr lang="en-GB" dirty="0">
                <a:solidFill>
                  <a:srgbClr val="009051"/>
                </a:solidFill>
              </a:rPr>
              <a:t> </a:t>
            </a:r>
            <a:r>
              <a:rPr lang="en-GB" dirty="0"/>
              <a:t>- Legacy systems may have been written for hardware that is no longer available</a:t>
            </a:r>
          </a:p>
          <a:p>
            <a:r>
              <a:rPr lang="en-GB" i="1" dirty="0">
                <a:solidFill>
                  <a:srgbClr val="009051"/>
                </a:solidFill>
              </a:rPr>
              <a:t>Support software</a:t>
            </a:r>
            <a:r>
              <a:rPr lang="en-GB" dirty="0">
                <a:solidFill>
                  <a:srgbClr val="009051"/>
                </a:solidFill>
              </a:rPr>
              <a:t> </a:t>
            </a:r>
            <a:r>
              <a:rPr lang="en-GB" dirty="0"/>
              <a:t>- The legacy system may rely on a range of support software, which may be obsolete or unsupported</a:t>
            </a:r>
          </a:p>
          <a:p>
            <a:r>
              <a:rPr lang="en-GB" i="1" dirty="0">
                <a:solidFill>
                  <a:srgbClr val="009051"/>
                </a:solidFill>
              </a:rPr>
              <a:t>Application software</a:t>
            </a:r>
            <a:r>
              <a:rPr lang="en-GB" dirty="0">
                <a:solidFill>
                  <a:srgbClr val="009051"/>
                </a:solidFill>
              </a:rPr>
              <a:t> </a:t>
            </a:r>
            <a:r>
              <a:rPr lang="en-GB" dirty="0"/>
              <a:t>- The application system that provides the business services is usually made up of a number of application programs</a:t>
            </a:r>
          </a:p>
          <a:p>
            <a:r>
              <a:rPr lang="en-GB" i="1" dirty="0">
                <a:solidFill>
                  <a:srgbClr val="009051"/>
                </a:solidFill>
              </a:rPr>
              <a:t>Application data</a:t>
            </a:r>
            <a:r>
              <a:rPr lang="en-GB" dirty="0">
                <a:solidFill>
                  <a:srgbClr val="009051"/>
                </a:solidFill>
              </a:rPr>
              <a:t> </a:t>
            </a:r>
            <a:r>
              <a:rPr lang="en-GB" dirty="0"/>
              <a:t>- These are data that are processed by the application system. They may be inconsistent, duplicated, or held in different databases.</a:t>
            </a:r>
            <a:endParaRPr lang="en-US" dirty="0"/>
          </a:p>
        </p:txBody>
      </p:sp>
      <p:sp>
        <p:nvSpPr>
          <p:cNvPr id="5" name="Slide Number Placeholder 4"/>
          <p:cNvSpPr>
            <a:spLocks noGrp="1"/>
          </p:cNvSpPr>
          <p:nvPr>
            <p:ph type="sldNum" sz="quarter" idx="12"/>
          </p:nvPr>
        </p:nvSpPr>
        <p:spPr/>
        <p:txBody>
          <a:bodyPr/>
          <a:lstStyle/>
          <a:p>
            <a:fld id="{C8735F24-F0A4-DB4E-AAD6-0E2C6B4C4636}" type="slidenum">
              <a:rPr lang="en-US" smtClean="0"/>
              <a:pPr/>
              <a:t>16</a:t>
            </a:fld>
            <a:endParaRPr lang="en-US" dirty="0"/>
          </a:p>
        </p:txBody>
      </p:sp>
    </p:spTree>
    <p:extLst>
      <p:ext uri="{BB962C8B-B14F-4D97-AF65-F5344CB8AC3E}">
        <p14:creationId xmlns:p14="http://schemas.microsoft.com/office/powerpoint/2010/main" val="3600028255"/>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 Legacy System Components</a:t>
            </a:r>
          </a:p>
        </p:txBody>
      </p:sp>
      <p:sp>
        <p:nvSpPr>
          <p:cNvPr id="3" name="Content Placeholder 2"/>
          <p:cNvSpPr>
            <a:spLocks noGrp="1"/>
          </p:cNvSpPr>
          <p:nvPr>
            <p:ph idx="1"/>
          </p:nvPr>
        </p:nvSpPr>
        <p:spPr/>
        <p:txBody>
          <a:bodyPr/>
          <a:lstStyle/>
          <a:p>
            <a:r>
              <a:rPr lang="en-GB" i="1" dirty="0">
                <a:solidFill>
                  <a:srgbClr val="009051"/>
                </a:solidFill>
              </a:rPr>
              <a:t>Business processes </a:t>
            </a:r>
            <a:r>
              <a:rPr lang="en-GB" i="1" dirty="0"/>
              <a:t>- </a:t>
            </a:r>
            <a:r>
              <a:rPr lang="en-GB" dirty="0"/>
              <a:t>These are processes that are used in the business to achieve some business objective</a:t>
            </a:r>
          </a:p>
          <a:p>
            <a:pPr lvl="1"/>
            <a:r>
              <a:rPr lang="en-GB" dirty="0"/>
              <a:t>Business processes may be designed around a legacy system &amp; constrained by the functionality that it provides </a:t>
            </a:r>
          </a:p>
          <a:p>
            <a:r>
              <a:rPr lang="en-GB" i="1" dirty="0">
                <a:solidFill>
                  <a:srgbClr val="009051"/>
                </a:solidFill>
              </a:rPr>
              <a:t>Business policies &amp; rules</a:t>
            </a:r>
            <a:r>
              <a:rPr lang="en-GB" dirty="0">
                <a:solidFill>
                  <a:srgbClr val="009051"/>
                </a:solidFill>
              </a:rPr>
              <a:t> </a:t>
            </a:r>
            <a:r>
              <a:rPr lang="en-GB" dirty="0"/>
              <a:t>- These are definitions of how the business should be carried out &amp; constraints on the business. Use of the legacy application system may be embedded in these policies &amp; rules. </a:t>
            </a:r>
            <a:endParaRPr lang="en-US" dirty="0"/>
          </a:p>
        </p:txBody>
      </p:sp>
      <p:sp>
        <p:nvSpPr>
          <p:cNvPr id="5" name="Slide Number Placeholder 4"/>
          <p:cNvSpPr>
            <a:spLocks noGrp="1"/>
          </p:cNvSpPr>
          <p:nvPr>
            <p:ph type="sldNum" sz="quarter" idx="12"/>
          </p:nvPr>
        </p:nvSpPr>
        <p:spPr/>
        <p:txBody>
          <a:bodyPr/>
          <a:lstStyle/>
          <a:p>
            <a:fld id="{C8735F24-F0A4-DB4E-AAD6-0E2C6B4C4636}" type="slidenum">
              <a:rPr lang="en-US" smtClean="0"/>
              <a:pPr/>
              <a:t>17</a:t>
            </a:fld>
            <a:endParaRPr lang="en-US" dirty="0"/>
          </a:p>
        </p:txBody>
      </p:sp>
    </p:spTree>
    <p:extLst>
      <p:ext uri="{BB962C8B-B14F-4D97-AF65-F5344CB8AC3E}">
        <p14:creationId xmlns:p14="http://schemas.microsoft.com/office/powerpoint/2010/main" val="1578705484"/>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Legacy System Replacement</a:t>
            </a:r>
          </a:p>
        </p:txBody>
      </p:sp>
      <p:sp>
        <p:nvSpPr>
          <p:cNvPr id="3" name="Content Placeholder 2"/>
          <p:cNvSpPr>
            <a:spLocks noGrp="1"/>
          </p:cNvSpPr>
          <p:nvPr>
            <p:ph idx="1"/>
          </p:nvPr>
        </p:nvSpPr>
        <p:spPr/>
        <p:txBody>
          <a:bodyPr/>
          <a:lstStyle/>
          <a:p>
            <a:r>
              <a:rPr lang="en-US" dirty="0"/>
              <a:t>Legacy system replacement is risky &amp; expensive, so businesses continue to use these systems</a:t>
            </a:r>
          </a:p>
          <a:p>
            <a:r>
              <a:rPr lang="en-US" dirty="0"/>
              <a:t>System replacement is risky for several reasons:</a:t>
            </a:r>
          </a:p>
          <a:p>
            <a:pPr lvl="1"/>
            <a:r>
              <a:rPr lang="en-US" dirty="0"/>
              <a:t>Lack of complete system specification</a:t>
            </a:r>
          </a:p>
          <a:p>
            <a:pPr lvl="1"/>
            <a:r>
              <a:rPr lang="en-US" dirty="0"/>
              <a:t>Tight integration of system &amp; business processes</a:t>
            </a:r>
          </a:p>
          <a:p>
            <a:pPr lvl="1"/>
            <a:r>
              <a:rPr lang="en-US" dirty="0"/>
              <a:t>Undocumented business rules embedded in the legacy system</a:t>
            </a:r>
          </a:p>
          <a:p>
            <a:pPr lvl="1"/>
            <a:r>
              <a:rPr lang="en-US" dirty="0"/>
              <a:t>New software development may be late &amp;/or over budget</a:t>
            </a:r>
          </a:p>
        </p:txBody>
      </p:sp>
      <p:sp>
        <p:nvSpPr>
          <p:cNvPr id="5" name="Slide Number Placeholder 4"/>
          <p:cNvSpPr>
            <a:spLocks noGrp="1"/>
          </p:cNvSpPr>
          <p:nvPr>
            <p:ph type="sldNum" sz="quarter" idx="12"/>
          </p:nvPr>
        </p:nvSpPr>
        <p:spPr/>
        <p:txBody>
          <a:bodyPr/>
          <a:lstStyle/>
          <a:p>
            <a:fld id="{C8735F24-F0A4-DB4E-AAD6-0E2C6B4C4636}" type="slidenum">
              <a:rPr lang="en-US" smtClean="0"/>
              <a:pPr/>
              <a:t>18</a:t>
            </a:fld>
            <a:endParaRPr lang="en-US" dirty="0"/>
          </a:p>
        </p:txBody>
      </p:sp>
    </p:spTree>
    <p:extLst>
      <p:ext uri="{BB962C8B-B14F-4D97-AF65-F5344CB8AC3E}">
        <p14:creationId xmlns:p14="http://schemas.microsoft.com/office/powerpoint/2010/main" val="1480769589"/>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Legacy System Change</a:t>
            </a:r>
          </a:p>
        </p:txBody>
      </p:sp>
      <p:sp>
        <p:nvSpPr>
          <p:cNvPr id="3" name="Content Placeholder 2"/>
          <p:cNvSpPr>
            <a:spLocks noGrp="1"/>
          </p:cNvSpPr>
          <p:nvPr>
            <p:ph idx="1"/>
          </p:nvPr>
        </p:nvSpPr>
        <p:spPr/>
        <p:txBody>
          <a:bodyPr/>
          <a:lstStyle/>
          <a:p>
            <a:r>
              <a:rPr lang="en-US" dirty="0"/>
              <a:t>Legacy systems are expensive to change due to several reasons:</a:t>
            </a:r>
          </a:p>
          <a:p>
            <a:pPr lvl="1"/>
            <a:r>
              <a:rPr lang="en-US" dirty="0"/>
              <a:t>No consistent programming style</a:t>
            </a:r>
          </a:p>
          <a:p>
            <a:pPr lvl="1"/>
            <a:r>
              <a:rPr lang="en-US" dirty="0"/>
              <a:t>Use of obsolete programming languages with few people available with these language skills</a:t>
            </a:r>
          </a:p>
          <a:p>
            <a:pPr lvl="1"/>
            <a:r>
              <a:rPr lang="en-US" dirty="0"/>
              <a:t>Inadequate system documentation</a:t>
            </a:r>
          </a:p>
          <a:p>
            <a:pPr lvl="1"/>
            <a:r>
              <a:rPr lang="en-US" dirty="0"/>
              <a:t>System structure degradation</a:t>
            </a:r>
          </a:p>
          <a:p>
            <a:pPr lvl="1"/>
            <a:r>
              <a:rPr lang="en-US" dirty="0"/>
              <a:t>Program optimizations may make them hard to understand</a:t>
            </a:r>
          </a:p>
          <a:p>
            <a:pPr lvl="1"/>
            <a:r>
              <a:rPr lang="en-US" dirty="0"/>
              <a:t>Data errors, duplication, &amp; inconsistency</a:t>
            </a:r>
          </a:p>
          <a:p>
            <a:pPr lvl="1"/>
            <a:endParaRPr lang="en-US" dirty="0"/>
          </a:p>
          <a:p>
            <a:pPr lvl="1"/>
            <a:endParaRPr lang="en-US" dirty="0"/>
          </a:p>
        </p:txBody>
      </p:sp>
      <p:sp>
        <p:nvSpPr>
          <p:cNvPr id="5" name="Slide Number Placeholder 4"/>
          <p:cNvSpPr>
            <a:spLocks noGrp="1"/>
          </p:cNvSpPr>
          <p:nvPr>
            <p:ph type="sldNum" sz="quarter" idx="12"/>
          </p:nvPr>
        </p:nvSpPr>
        <p:spPr/>
        <p:txBody>
          <a:bodyPr/>
          <a:lstStyle/>
          <a:p>
            <a:fld id="{C8735F24-F0A4-DB4E-AAD6-0E2C6B4C4636}" type="slidenum">
              <a:rPr lang="en-US" smtClean="0"/>
              <a:pPr/>
              <a:t>19</a:t>
            </a:fld>
            <a:endParaRPr lang="en-US" dirty="0"/>
          </a:p>
        </p:txBody>
      </p:sp>
    </p:spTree>
    <p:extLst>
      <p:ext uri="{BB962C8B-B14F-4D97-AF65-F5344CB8AC3E}">
        <p14:creationId xmlns:p14="http://schemas.microsoft.com/office/powerpoint/2010/main" val="2577998091"/>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GB" sz="3200" dirty="0">
                <a:solidFill>
                  <a:srgbClr val="FF0000"/>
                </a:solidFill>
              </a:rPr>
              <a:t>Legacy System Management</a:t>
            </a:r>
          </a:p>
        </p:txBody>
      </p:sp>
      <p:sp>
        <p:nvSpPr>
          <p:cNvPr id="81923" name="Rectangle 3"/>
          <p:cNvSpPr>
            <a:spLocks noGrp="1" noChangeArrowheads="1"/>
          </p:cNvSpPr>
          <p:nvPr>
            <p:ph idx="1"/>
          </p:nvPr>
        </p:nvSpPr>
        <p:spPr>
          <a:xfrm>
            <a:off x="457200" y="1519518"/>
            <a:ext cx="8229600" cy="4525963"/>
          </a:xfrm>
        </p:spPr>
        <p:txBody>
          <a:bodyPr/>
          <a:lstStyle/>
          <a:p>
            <a:r>
              <a:rPr lang="en-GB" sz="2400" dirty="0"/>
              <a:t>Organizations that rely on legacy systems must choose a strategy for evolving these systems</a:t>
            </a:r>
          </a:p>
          <a:p>
            <a:pPr lvl="1"/>
            <a:r>
              <a:rPr lang="en-GB" sz="2000" dirty="0"/>
              <a:t>Scrap the system completely &amp; modify business processes so that it is no longer required</a:t>
            </a:r>
          </a:p>
          <a:p>
            <a:pPr lvl="1"/>
            <a:r>
              <a:rPr lang="en-GB" sz="2000" dirty="0"/>
              <a:t>Continue maintaining the system</a:t>
            </a:r>
          </a:p>
          <a:p>
            <a:pPr lvl="1"/>
            <a:r>
              <a:rPr lang="en-GB" sz="2000" dirty="0"/>
              <a:t>Transform the system by re-engineering to improve its maintainability</a:t>
            </a:r>
          </a:p>
          <a:p>
            <a:pPr lvl="1"/>
            <a:r>
              <a:rPr lang="en-GB" sz="2000" dirty="0"/>
              <a:t>Replace the system with a new system</a:t>
            </a:r>
          </a:p>
          <a:p>
            <a:r>
              <a:rPr lang="en-GB" sz="2400" dirty="0"/>
              <a:t>The strategy chosen should depend on the system quality &amp; its business value</a:t>
            </a:r>
          </a:p>
        </p:txBody>
      </p:sp>
      <p:sp>
        <p:nvSpPr>
          <p:cNvPr id="6" name="Slide Number Placeholder 5"/>
          <p:cNvSpPr>
            <a:spLocks noGrp="1"/>
          </p:cNvSpPr>
          <p:nvPr>
            <p:ph type="sldNum" sz="quarter" idx="12"/>
          </p:nvPr>
        </p:nvSpPr>
        <p:spPr/>
        <p:txBody>
          <a:bodyPr/>
          <a:lstStyle/>
          <a:p>
            <a:fld id="{C8735F24-F0A4-DB4E-AAD6-0E2C6B4C4636}" type="slidenum">
              <a:rPr lang="en-US" smtClean="0"/>
              <a:pPr/>
              <a:t>20</a:t>
            </a:fld>
            <a:endParaRPr lang="en-US" dirty="0"/>
          </a:p>
        </p:txBody>
      </p:sp>
    </p:spTree>
    <p:extLst>
      <p:ext uri="{BB962C8B-B14F-4D97-AF65-F5344CB8AC3E}">
        <p14:creationId xmlns:p14="http://schemas.microsoft.com/office/powerpoint/2010/main" val="4035063964"/>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GB" sz="3200" dirty="0">
                <a:solidFill>
                  <a:srgbClr val="FF0000"/>
                </a:solidFill>
              </a:rPr>
              <a:t>Legacy System Categories</a:t>
            </a:r>
          </a:p>
        </p:txBody>
      </p:sp>
      <p:sp>
        <p:nvSpPr>
          <p:cNvPr id="83971" name="Rectangle 3"/>
          <p:cNvSpPr>
            <a:spLocks noGrp="1" noChangeArrowheads="1"/>
          </p:cNvSpPr>
          <p:nvPr>
            <p:ph idx="1"/>
          </p:nvPr>
        </p:nvSpPr>
        <p:spPr>
          <a:xfrm>
            <a:off x="504265" y="1485900"/>
            <a:ext cx="8229600" cy="4525963"/>
          </a:xfrm>
        </p:spPr>
        <p:txBody>
          <a:bodyPr/>
          <a:lstStyle/>
          <a:p>
            <a:r>
              <a:rPr lang="en-GB" sz="2400" dirty="0">
                <a:solidFill>
                  <a:srgbClr val="009051"/>
                </a:solidFill>
              </a:rPr>
              <a:t>Low quality, low business value</a:t>
            </a:r>
          </a:p>
          <a:p>
            <a:pPr lvl="1"/>
            <a:r>
              <a:rPr lang="en-GB" sz="2000" dirty="0"/>
              <a:t>These systems should be scrapped </a:t>
            </a:r>
          </a:p>
          <a:p>
            <a:r>
              <a:rPr lang="en-GB" sz="2400" dirty="0">
                <a:solidFill>
                  <a:srgbClr val="009051"/>
                </a:solidFill>
              </a:rPr>
              <a:t>Low-quality, high-business value</a:t>
            </a:r>
          </a:p>
          <a:p>
            <a:pPr lvl="1"/>
            <a:r>
              <a:rPr lang="en-GB" sz="2000" dirty="0"/>
              <a:t>These make an important business contribution but are expensive to maintain. Should be re-engineered or replaced if a suitable system is available.</a:t>
            </a:r>
          </a:p>
          <a:p>
            <a:r>
              <a:rPr lang="en-GB" sz="2400" dirty="0">
                <a:solidFill>
                  <a:srgbClr val="009051"/>
                </a:solidFill>
              </a:rPr>
              <a:t>High-quality, low-business value</a:t>
            </a:r>
          </a:p>
          <a:p>
            <a:pPr lvl="1"/>
            <a:r>
              <a:rPr lang="en-GB" sz="2000" dirty="0"/>
              <a:t>Replace with COTS (commercial-off-the-shelf), scrap completely or maintain</a:t>
            </a:r>
          </a:p>
          <a:p>
            <a:r>
              <a:rPr lang="en-GB" sz="2400" dirty="0"/>
              <a:t>High-quality, high business value</a:t>
            </a:r>
          </a:p>
          <a:p>
            <a:pPr lvl="1"/>
            <a:r>
              <a:rPr lang="en-GB" sz="2000" dirty="0"/>
              <a:t>Continue in operation using normal system maintenance</a:t>
            </a:r>
          </a:p>
        </p:txBody>
      </p:sp>
      <p:sp>
        <p:nvSpPr>
          <p:cNvPr id="6" name="Slide Number Placeholder 5"/>
          <p:cNvSpPr>
            <a:spLocks noGrp="1"/>
          </p:cNvSpPr>
          <p:nvPr>
            <p:ph type="sldNum" sz="quarter" idx="12"/>
          </p:nvPr>
        </p:nvSpPr>
        <p:spPr/>
        <p:txBody>
          <a:bodyPr/>
          <a:lstStyle/>
          <a:p>
            <a:fld id="{C8735F24-F0A4-DB4E-AAD6-0E2C6B4C4636}" type="slidenum">
              <a:rPr lang="en-US" smtClean="0"/>
              <a:pPr/>
              <a:t>21</a:t>
            </a:fld>
            <a:endParaRPr lang="en-US" dirty="0"/>
          </a:p>
        </p:txBody>
      </p:sp>
    </p:spTree>
    <p:extLst>
      <p:ext uri="{BB962C8B-B14F-4D97-AF65-F5344CB8AC3E}">
        <p14:creationId xmlns:p14="http://schemas.microsoft.com/office/powerpoint/2010/main" val="2419207370"/>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GB" sz="3200" dirty="0">
                <a:solidFill>
                  <a:srgbClr val="FF0000"/>
                </a:solidFill>
              </a:rPr>
              <a:t>Business Value Assessment</a:t>
            </a:r>
          </a:p>
        </p:txBody>
      </p:sp>
      <p:sp>
        <p:nvSpPr>
          <p:cNvPr id="84995" name="Rectangle 3"/>
          <p:cNvSpPr>
            <a:spLocks noGrp="1" noChangeArrowheads="1"/>
          </p:cNvSpPr>
          <p:nvPr>
            <p:ph idx="1"/>
          </p:nvPr>
        </p:nvSpPr>
        <p:spPr/>
        <p:txBody>
          <a:bodyPr/>
          <a:lstStyle/>
          <a:p>
            <a:r>
              <a:rPr lang="en-GB" dirty="0"/>
              <a:t>Assessment involves the following stakeholders:</a:t>
            </a:r>
          </a:p>
          <a:p>
            <a:pPr lvl="1"/>
            <a:r>
              <a:rPr lang="en-GB" dirty="0"/>
              <a:t>System end-users</a:t>
            </a:r>
          </a:p>
          <a:p>
            <a:pPr lvl="1"/>
            <a:r>
              <a:rPr lang="en-GB" dirty="0"/>
              <a:t>Business customers</a:t>
            </a:r>
          </a:p>
          <a:p>
            <a:pPr lvl="1"/>
            <a:r>
              <a:rPr lang="en-GB" dirty="0"/>
              <a:t>Line managers</a:t>
            </a:r>
          </a:p>
          <a:p>
            <a:pPr lvl="1"/>
            <a:r>
              <a:rPr lang="en-GB" dirty="0"/>
              <a:t>IT managers</a:t>
            </a:r>
          </a:p>
          <a:p>
            <a:pPr lvl="1"/>
            <a:r>
              <a:rPr lang="en-GB" dirty="0"/>
              <a:t>Senior managers</a:t>
            </a:r>
          </a:p>
          <a:p>
            <a:r>
              <a:rPr lang="en-GB" dirty="0"/>
              <a:t>Interview different stakeholders &amp; collate results</a:t>
            </a:r>
          </a:p>
        </p:txBody>
      </p:sp>
      <p:sp>
        <p:nvSpPr>
          <p:cNvPr id="6" name="Slide Number Placeholder 5"/>
          <p:cNvSpPr>
            <a:spLocks noGrp="1"/>
          </p:cNvSpPr>
          <p:nvPr>
            <p:ph type="sldNum" sz="quarter" idx="12"/>
          </p:nvPr>
        </p:nvSpPr>
        <p:spPr/>
        <p:txBody>
          <a:bodyPr/>
          <a:lstStyle/>
          <a:p>
            <a:fld id="{C8735F24-F0A4-DB4E-AAD6-0E2C6B4C4636}" type="slidenum">
              <a:rPr lang="en-US" smtClean="0"/>
              <a:pPr/>
              <a:t>22</a:t>
            </a:fld>
            <a:endParaRPr lang="en-US" dirty="0"/>
          </a:p>
        </p:txBody>
      </p:sp>
    </p:spTree>
    <p:extLst>
      <p:ext uri="{BB962C8B-B14F-4D97-AF65-F5344CB8AC3E}">
        <p14:creationId xmlns:p14="http://schemas.microsoft.com/office/powerpoint/2010/main" val="3120132720"/>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34618" cy="1143000"/>
          </a:xfrm>
        </p:spPr>
        <p:txBody>
          <a:bodyPr/>
          <a:lstStyle/>
          <a:p>
            <a:r>
              <a:rPr lang="en-US" sz="3200" dirty="0">
                <a:solidFill>
                  <a:srgbClr val="FF0000"/>
                </a:solidFill>
              </a:rPr>
              <a:t>Issues in Business Value Assessment</a:t>
            </a:r>
          </a:p>
        </p:txBody>
      </p:sp>
      <p:sp>
        <p:nvSpPr>
          <p:cNvPr id="3" name="Content Placeholder 2"/>
          <p:cNvSpPr>
            <a:spLocks noGrp="1"/>
          </p:cNvSpPr>
          <p:nvPr>
            <p:ph idx="1"/>
          </p:nvPr>
        </p:nvSpPr>
        <p:spPr>
          <a:xfrm>
            <a:off x="457200" y="1417638"/>
            <a:ext cx="8229600" cy="4823700"/>
          </a:xfrm>
        </p:spPr>
        <p:txBody>
          <a:bodyPr/>
          <a:lstStyle/>
          <a:p>
            <a:r>
              <a:rPr lang="en-US" dirty="0"/>
              <a:t>The use of the system </a:t>
            </a:r>
          </a:p>
          <a:p>
            <a:pPr lvl="1"/>
            <a:r>
              <a:rPr lang="en-US" dirty="0"/>
              <a:t>If systems are only used occasionally or by a small number of people, they may have a low business value </a:t>
            </a:r>
            <a:endParaRPr lang="en-GB" dirty="0"/>
          </a:p>
          <a:p>
            <a:r>
              <a:rPr lang="en-US" dirty="0"/>
              <a:t>The business processes that are supported </a:t>
            </a:r>
          </a:p>
          <a:p>
            <a:pPr lvl="1"/>
            <a:r>
              <a:rPr lang="en-US" dirty="0"/>
              <a:t>A system may have a low business value if it forces the use of inefficient business processes </a:t>
            </a:r>
            <a:endParaRPr lang="en-GB" dirty="0"/>
          </a:p>
          <a:p>
            <a:r>
              <a:rPr lang="en-US" dirty="0"/>
              <a:t>System dependability </a:t>
            </a:r>
          </a:p>
          <a:p>
            <a:pPr lvl="1"/>
            <a:r>
              <a:rPr lang="en-US" dirty="0"/>
              <a:t>If a system is not dependable &amp; the problems directly affect business customers, the system has a low business value</a:t>
            </a:r>
            <a:endParaRPr lang="en-GB" dirty="0"/>
          </a:p>
          <a:p>
            <a:r>
              <a:rPr lang="en-US" dirty="0"/>
              <a:t>The system outputs </a:t>
            </a:r>
          </a:p>
          <a:p>
            <a:pPr lvl="1"/>
            <a:r>
              <a:rPr lang="en-US" dirty="0"/>
              <a:t>If the business depends on system outputs, then the system has a high business value </a:t>
            </a:r>
            <a:endParaRPr lang="en-GB" dirty="0"/>
          </a:p>
          <a:p>
            <a:endParaRPr lang="en-US" dirty="0"/>
          </a:p>
        </p:txBody>
      </p:sp>
      <p:sp>
        <p:nvSpPr>
          <p:cNvPr id="6" name="Slide Number Placeholder 5"/>
          <p:cNvSpPr>
            <a:spLocks noGrp="1"/>
          </p:cNvSpPr>
          <p:nvPr>
            <p:ph type="sldNum" sz="quarter" idx="12"/>
          </p:nvPr>
        </p:nvSpPr>
        <p:spPr/>
        <p:txBody>
          <a:bodyPr/>
          <a:lstStyle/>
          <a:p>
            <a:fld id="{C8735F24-F0A4-DB4E-AAD6-0E2C6B4C4636}" type="slidenum">
              <a:rPr lang="en-US" smtClean="0"/>
              <a:pPr/>
              <a:t>23</a:t>
            </a:fld>
            <a:endParaRPr lang="en-US" dirty="0"/>
          </a:p>
        </p:txBody>
      </p:sp>
    </p:spTree>
    <p:extLst>
      <p:ext uri="{BB962C8B-B14F-4D97-AF65-F5344CB8AC3E}">
        <p14:creationId xmlns:p14="http://schemas.microsoft.com/office/powerpoint/2010/main" val="3849434549"/>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GB" sz="3200" dirty="0">
                <a:solidFill>
                  <a:srgbClr val="FF0000"/>
                </a:solidFill>
              </a:rPr>
              <a:t>System Quality Assessment</a:t>
            </a:r>
          </a:p>
        </p:txBody>
      </p:sp>
      <p:sp>
        <p:nvSpPr>
          <p:cNvPr id="86019" name="Rectangle 3"/>
          <p:cNvSpPr>
            <a:spLocks noGrp="1" noChangeArrowheads="1"/>
          </p:cNvSpPr>
          <p:nvPr>
            <p:ph idx="1"/>
          </p:nvPr>
        </p:nvSpPr>
        <p:spPr/>
        <p:txBody>
          <a:bodyPr/>
          <a:lstStyle/>
          <a:p>
            <a:r>
              <a:rPr lang="en-GB" dirty="0">
                <a:solidFill>
                  <a:srgbClr val="009051"/>
                </a:solidFill>
              </a:rPr>
              <a:t>Business process assessment</a:t>
            </a:r>
          </a:p>
          <a:p>
            <a:pPr lvl="1"/>
            <a:r>
              <a:rPr lang="en-GB" dirty="0"/>
              <a:t>How well does the business process support the current goals of the business?</a:t>
            </a:r>
          </a:p>
          <a:p>
            <a:r>
              <a:rPr lang="en-GB" dirty="0">
                <a:solidFill>
                  <a:srgbClr val="009051"/>
                </a:solidFill>
              </a:rPr>
              <a:t>Environment assessment</a:t>
            </a:r>
          </a:p>
          <a:p>
            <a:pPr lvl="1"/>
            <a:r>
              <a:rPr lang="en-GB" dirty="0"/>
              <a:t>How effective is the system’s environment &amp; how expensive is it to maintain?</a:t>
            </a:r>
          </a:p>
          <a:p>
            <a:r>
              <a:rPr lang="en-GB" dirty="0">
                <a:solidFill>
                  <a:srgbClr val="009051"/>
                </a:solidFill>
              </a:rPr>
              <a:t>Application assessment</a:t>
            </a:r>
          </a:p>
          <a:p>
            <a:pPr lvl="1"/>
            <a:r>
              <a:rPr lang="en-GB" dirty="0"/>
              <a:t>What is the quality of the application software system?</a:t>
            </a:r>
          </a:p>
        </p:txBody>
      </p:sp>
      <p:sp>
        <p:nvSpPr>
          <p:cNvPr id="6" name="Slide Number Placeholder 5"/>
          <p:cNvSpPr>
            <a:spLocks noGrp="1"/>
          </p:cNvSpPr>
          <p:nvPr>
            <p:ph type="sldNum" sz="quarter" idx="12"/>
          </p:nvPr>
        </p:nvSpPr>
        <p:spPr/>
        <p:txBody>
          <a:bodyPr/>
          <a:lstStyle/>
          <a:p>
            <a:fld id="{C8735F24-F0A4-DB4E-AAD6-0E2C6B4C4636}" type="slidenum">
              <a:rPr lang="en-US" smtClean="0"/>
              <a:pPr/>
              <a:t>24</a:t>
            </a:fld>
            <a:endParaRPr lang="en-US" dirty="0"/>
          </a:p>
        </p:txBody>
      </p:sp>
    </p:spTree>
    <p:extLst>
      <p:ext uri="{BB962C8B-B14F-4D97-AF65-F5344CB8AC3E}">
        <p14:creationId xmlns:p14="http://schemas.microsoft.com/office/powerpoint/2010/main" val="3401021487"/>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GB" sz="3000" dirty="0">
                <a:solidFill>
                  <a:schemeClr val="accent6"/>
                </a:solidFill>
              </a:rPr>
              <a:t>Business Process Assessment</a:t>
            </a:r>
          </a:p>
        </p:txBody>
      </p:sp>
      <p:sp>
        <p:nvSpPr>
          <p:cNvPr id="87043" name="Rectangle 3"/>
          <p:cNvSpPr>
            <a:spLocks noGrp="1" noChangeArrowheads="1"/>
          </p:cNvSpPr>
          <p:nvPr>
            <p:ph idx="1"/>
          </p:nvPr>
        </p:nvSpPr>
        <p:spPr>
          <a:xfrm>
            <a:off x="457200" y="1512795"/>
            <a:ext cx="8229600" cy="4525963"/>
          </a:xfrm>
        </p:spPr>
        <p:txBody>
          <a:bodyPr/>
          <a:lstStyle/>
          <a:p>
            <a:pPr>
              <a:lnSpc>
                <a:spcPct val="90000"/>
              </a:lnSpc>
            </a:pPr>
            <a:r>
              <a:rPr lang="en-GB" sz="2400" dirty="0"/>
              <a:t>Use a </a:t>
            </a:r>
            <a:r>
              <a:rPr lang="en-GB" sz="2400" dirty="0">
                <a:solidFill>
                  <a:srgbClr val="009051"/>
                </a:solidFill>
              </a:rPr>
              <a:t>viewpoint-oriented approach </a:t>
            </a:r>
            <a:r>
              <a:rPr lang="en-GB" sz="2400" dirty="0"/>
              <a:t>&amp; seek answers from system stakeholders</a:t>
            </a:r>
          </a:p>
          <a:p>
            <a:pPr lvl="1">
              <a:lnSpc>
                <a:spcPct val="90000"/>
              </a:lnSpc>
            </a:pPr>
            <a:r>
              <a:rPr lang="en-GB" sz="2000" dirty="0"/>
              <a:t>Is there a defined process model &amp; is it followed?</a:t>
            </a:r>
          </a:p>
          <a:p>
            <a:pPr lvl="1">
              <a:lnSpc>
                <a:spcPct val="90000"/>
              </a:lnSpc>
            </a:pPr>
            <a:r>
              <a:rPr lang="en-GB" sz="2000" dirty="0"/>
              <a:t>Do different parts of the organisation use different processes for the same function?</a:t>
            </a:r>
          </a:p>
          <a:p>
            <a:pPr lvl="1">
              <a:lnSpc>
                <a:spcPct val="90000"/>
              </a:lnSpc>
            </a:pPr>
            <a:r>
              <a:rPr lang="en-GB" sz="2000" dirty="0"/>
              <a:t>How has the process been adapted?</a:t>
            </a:r>
          </a:p>
          <a:p>
            <a:pPr lvl="1">
              <a:lnSpc>
                <a:spcPct val="90000"/>
              </a:lnSpc>
            </a:pPr>
            <a:r>
              <a:rPr lang="en-GB" sz="2000" dirty="0"/>
              <a:t>What are the relationships with other business processes &amp; are these necessary?</a:t>
            </a:r>
          </a:p>
          <a:p>
            <a:pPr lvl="1">
              <a:lnSpc>
                <a:spcPct val="90000"/>
              </a:lnSpc>
            </a:pPr>
            <a:r>
              <a:rPr lang="en-GB" sz="2000" dirty="0"/>
              <a:t>Is the process effectively supported by the legacy application software?</a:t>
            </a:r>
          </a:p>
        </p:txBody>
      </p:sp>
      <p:sp>
        <p:nvSpPr>
          <p:cNvPr id="6" name="Slide Number Placeholder 5"/>
          <p:cNvSpPr>
            <a:spLocks noGrp="1"/>
          </p:cNvSpPr>
          <p:nvPr>
            <p:ph type="sldNum" sz="quarter" idx="12"/>
          </p:nvPr>
        </p:nvSpPr>
        <p:spPr/>
        <p:txBody>
          <a:bodyPr/>
          <a:lstStyle/>
          <a:p>
            <a:fld id="{C8735F24-F0A4-DB4E-AAD6-0E2C6B4C4636}" type="slidenum">
              <a:rPr lang="en-US" smtClean="0"/>
              <a:pPr/>
              <a:t>25</a:t>
            </a:fld>
            <a:endParaRPr lang="en-US" dirty="0"/>
          </a:p>
        </p:txBody>
      </p:sp>
    </p:spTree>
    <p:extLst>
      <p:ext uri="{BB962C8B-B14F-4D97-AF65-F5344CB8AC3E}">
        <p14:creationId xmlns:p14="http://schemas.microsoft.com/office/powerpoint/2010/main" val="4081480369"/>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021171" cy="1143000"/>
          </a:xfrm>
        </p:spPr>
        <p:txBody>
          <a:bodyPr/>
          <a:lstStyle/>
          <a:p>
            <a:r>
              <a:rPr lang="en-US" sz="3000" dirty="0">
                <a:solidFill>
                  <a:schemeClr val="accent6"/>
                </a:solidFill>
              </a:rPr>
              <a:t>Factors Used in Environment Assessment</a:t>
            </a:r>
            <a:r>
              <a:rPr lang="en-GB" sz="3000" dirty="0">
                <a:solidFill>
                  <a:schemeClr val="accent6"/>
                </a:solidFill>
              </a:rPr>
              <a:t> </a:t>
            </a:r>
            <a:endParaRPr lang="en-US" sz="3000" dirty="0">
              <a:solidFill>
                <a:schemeClr val="accent6"/>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29976969"/>
              </p:ext>
            </p:extLst>
          </p:nvPr>
        </p:nvGraphicFramePr>
        <p:xfrm>
          <a:off x="457200" y="1864376"/>
          <a:ext cx="8229600" cy="3364230"/>
        </p:xfrm>
        <a:graphic>
          <a:graphicData uri="http://schemas.openxmlformats.org/drawingml/2006/table">
            <a:tbl>
              <a:tblPr firstRow="1" bandRow="1">
                <a:tableStyleId>{5C22544A-7EE6-4342-B048-85BDC9FD1C3A}</a:tableStyleId>
              </a:tblPr>
              <a:tblGrid>
                <a:gridCol w="1785732">
                  <a:extLst>
                    <a:ext uri="{9D8B030D-6E8A-4147-A177-3AD203B41FA5}">
                      <a16:colId xmlns:a16="http://schemas.microsoft.com/office/drawing/2014/main" val="20000"/>
                    </a:ext>
                  </a:extLst>
                </a:gridCol>
                <a:gridCol w="6443868">
                  <a:extLst>
                    <a:ext uri="{9D8B030D-6E8A-4147-A177-3AD203B41FA5}">
                      <a16:colId xmlns:a16="http://schemas.microsoft.com/office/drawing/2014/main" val="20001"/>
                    </a:ext>
                  </a:extLst>
                </a:gridCol>
              </a:tblGrid>
              <a:tr h="370840">
                <a:tc>
                  <a:txBody>
                    <a:bodyPr/>
                    <a:lstStyle/>
                    <a:p>
                      <a:pPr>
                        <a:spcAft>
                          <a:spcPts val="600"/>
                        </a:spcAft>
                      </a:pPr>
                      <a:r>
                        <a:rPr lang="en-US" sz="1600" dirty="0">
                          <a:latin typeface="Arial"/>
                          <a:ea typeface="Calibri"/>
                          <a:cs typeface="Times New Roman"/>
                        </a:rPr>
                        <a:t>Factor</a:t>
                      </a:r>
                      <a:endParaRPr lang="en-GB" sz="1600" dirty="0">
                        <a:latin typeface="Arial"/>
                        <a:ea typeface="Calibri"/>
                        <a:cs typeface="Times New Roman"/>
                      </a:endParaRPr>
                    </a:p>
                  </a:txBody>
                  <a:tcPr marL="73025" marR="73025" marT="73025" marB="73025"/>
                </a:tc>
                <a:tc>
                  <a:txBody>
                    <a:bodyPr/>
                    <a:lstStyle/>
                    <a:p>
                      <a:pPr>
                        <a:spcAft>
                          <a:spcPts val="600"/>
                        </a:spcAft>
                      </a:pPr>
                      <a:r>
                        <a:rPr lang="en-US" sz="1600" dirty="0">
                          <a:latin typeface="Arial"/>
                          <a:ea typeface="Calibri"/>
                          <a:cs typeface="Times New Roman"/>
                        </a:rPr>
                        <a:t>Questions</a:t>
                      </a:r>
                      <a:endParaRPr lang="en-GB" sz="1600" dirty="0">
                        <a:latin typeface="Arial"/>
                        <a:ea typeface="Calibri"/>
                        <a:cs typeface="Times New Roman"/>
                      </a:endParaRPr>
                    </a:p>
                  </a:txBody>
                  <a:tcPr marL="73025" marR="73025" marT="73025" marB="73025"/>
                </a:tc>
                <a:extLst>
                  <a:ext uri="{0D108BD9-81ED-4DB2-BD59-A6C34878D82A}">
                    <a16:rowId xmlns:a16="http://schemas.microsoft.com/office/drawing/2014/main" val="10000"/>
                  </a:ext>
                </a:extLst>
              </a:tr>
              <a:tr h="370840">
                <a:tc>
                  <a:txBody>
                    <a:bodyPr/>
                    <a:lstStyle/>
                    <a:p>
                      <a:pPr>
                        <a:spcAft>
                          <a:spcPts val="600"/>
                        </a:spcAft>
                      </a:pPr>
                      <a:r>
                        <a:rPr lang="en-US" sz="1600" dirty="0">
                          <a:latin typeface="Arial"/>
                          <a:ea typeface="Calibri"/>
                          <a:cs typeface="Times New Roman"/>
                        </a:rPr>
                        <a:t>Supplier stability</a:t>
                      </a:r>
                      <a:endParaRPr lang="en-GB" sz="1600" dirty="0">
                        <a:latin typeface="Arial"/>
                        <a:ea typeface="Calibri"/>
                        <a:cs typeface="Times New Roman"/>
                      </a:endParaRPr>
                    </a:p>
                  </a:txBody>
                  <a:tcPr marL="73025" marR="73025" marT="0" marB="73025"/>
                </a:tc>
                <a:tc>
                  <a:txBody>
                    <a:bodyPr/>
                    <a:lstStyle/>
                    <a:p>
                      <a:pPr>
                        <a:spcAft>
                          <a:spcPts val="600"/>
                        </a:spcAft>
                      </a:pPr>
                      <a:r>
                        <a:rPr lang="en-US" sz="1600" dirty="0">
                          <a:latin typeface="Arial"/>
                          <a:ea typeface="Calibri"/>
                          <a:cs typeface="Times New Roman"/>
                        </a:rPr>
                        <a:t>Is the supplier still in existence? Is the supplier financially stable &amp; likely to continue in existence? If the supplier is no longer in business, does someone else maintain the systems? </a:t>
                      </a:r>
                      <a:endParaRPr lang="en-GB" sz="1600" dirty="0">
                        <a:latin typeface="Arial"/>
                        <a:ea typeface="Calibri"/>
                        <a:cs typeface="Times New Roman"/>
                      </a:endParaRPr>
                    </a:p>
                  </a:txBody>
                  <a:tcPr marL="73025" marR="73025" marT="0" marB="73025"/>
                </a:tc>
                <a:extLst>
                  <a:ext uri="{0D108BD9-81ED-4DB2-BD59-A6C34878D82A}">
                    <a16:rowId xmlns:a16="http://schemas.microsoft.com/office/drawing/2014/main" val="10001"/>
                  </a:ext>
                </a:extLst>
              </a:tr>
              <a:tr h="370840">
                <a:tc>
                  <a:txBody>
                    <a:bodyPr/>
                    <a:lstStyle/>
                    <a:p>
                      <a:pPr>
                        <a:spcAft>
                          <a:spcPts val="600"/>
                        </a:spcAft>
                      </a:pPr>
                      <a:r>
                        <a:rPr lang="en-US" sz="1600" dirty="0">
                          <a:latin typeface="Arial"/>
                          <a:ea typeface="Calibri"/>
                          <a:cs typeface="Times New Roman"/>
                        </a:rPr>
                        <a:t>Failure rate</a:t>
                      </a:r>
                      <a:endParaRPr lang="en-GB" sz="1600" dirty="0">
                        <a:latin typeface="Arial"/>
                        <a:ea typeface="Calibri"/>
                        <a:cs typeface="Times New Roman"/>
                      </a:endParaRPr>
                    </a:p>
                  </a:txBody>
                  <a:tcPr marL="73025" marR="73025" marT="0" marB="73025"/>
                </a:tc>
                <a:tc>
                  <a:txBody>
                    <a:bodyPr/>
                    <a:lstStyle/>
                    <a:p>
                      <a:pPr>
                        <a:spcAft>
                          <a:spcPts val="600"/>
                        </a:spcAft>
                      </a:pPr>
                      <a:r>
                        <a:rPr lang="en-US" sz="1600" dirty="0">
                          <a:latin typeface="Arial"/>
                          <a:ea typeface="Calibri"/>
                          <a:cs typeface="Times New Roman"/>
                        </a:rPr>
                        <a:t>Does the hardware have a high rate of reported failures? Does the support software crash &amp; force system restarts? </a:t>
                      </a:r>
                      <a:endParaRPr lang="en-GB" sz="1600" dirty="0">
                        <a:latin typeface="Arial"/>
                        <a:ea typeface="Calibri"/>
                        <a:cs typeface="Times New Roman"/>
                      </a:endParaRPr>
                    </a:p>
                  </a:txBody>
                  <a:tcPr marL="73025" marR="73025" marT="0" marB="73025"/>
                </a:tc>
                <a:extLst>
                  <a:ext uri="{0D108BD9-81ED-4DB2-BD59-A6C34878D82A}">
                    <a16:rowId xmlns:a16="http://schemas.microsoft.com/office/drawing/2014/main" val="10002"/>
                  </a:ext>
                </a:extLst>
              </a:tr>
              <a:tr h="370840">
                <a:tc>
                  <a:txBody>
                    <a:bodyPr/>
                    <a:lstStyle/>
                    <a:p>
                      <a:pPr>
                        <a:spcAft>
                          <a:spcPts val="600"/>
                        </a:spcAft>
                      </a:pPr>
                      <a:r>
                        <a:rPr lang="en-US" sz="1600" dirty="0">
                          <a:latin typeface="Arial"/>
                          <a:ea typeface="Calibri"/>
                          <a:cs typeface="Times New Roman"/>
                        </a:rPr>
                        <a:t>Age</a:t>
                      </a:r>
                      <a:endParaRPr lang="en-GB" sz="1600" dirty="0">
                        <a:latin typeface="Arial"/>
                        <a:ea typeface="Calibri"/>
                        <a:cs typeface="Times New Roman"/>
                      </a:endParaRPr>
                    </a:p>
                  </a:txBody>
                  <a:tcPr marL="73025" marR="73025" marT="0" marB="73025"/>
                </a:tc>
                <a:tc>
                  <a:txBody>
                    <a:bodyPr/>
                    <a:lstStyle/>
                    <a:p>
                      <a:pPr>
                        <a:spcAft>
                          <a:spcPts val="600"/>
                        </a:spcAft>
                      </a:pPr>
                      <a:r>
                        <a:rPr lang="en-US" sz="1600" dirty="0">
                          <a:latin typeface="Arial"/>
                          <a:ea typeface="Calibri"/>
                          <a:cs typeface="Times New Roman"/>
                        </a:rPr>
                        <a:t>How old is the hardware &amp; software? The older the hardware &amp; support software, the more obsolete it will be. It may still function correctly but there could be significant economic &amp; business benefits to moving to a more modern system.</a:t>
                      </a:r>
                      <a:endParaRPr lang="en-GB" sz="1600" dirty="0">
                        <a:latin typeface="Arial"/>
                        <a:ea typeface="Calibri"/>
                        <a:cs typeface="Times New Roman"/>
                      </a:endParaRPr>
                    </a:p>
                  </a:txBody>
                  <a:tcPr marL="73025" marR="73025" marT="0" marB="73025"/>
                </a:tc>
                <a:extLst>
                  <a:ext uri="{0D108BD9-81ED-4DB2-BD59-A6C34878D82A}">
                    <a16:rowId xmlns:a16="http://schemas.microsoft.com/office/drawing/2014/main" val="10003"/>
                  </a:ext>
                </a:extLst>
              </a:tr>
              <a:tr h="370840">
                <a:tc>
                  <a:txBody>
                    <a:bodyPr/>
                    <a:lstStyle/>
                    <a:p>
                      <a:pPr>
                        <a:spcAft>
                          <a:spcPts val="600"/>
                        </a:spcAft>
                      </a:pPr>
                      <a:r>
                        <a:rPr lang="en-US" sz="1600" dirty="0">
                          <a:latin typeface="Arial"/>
                          <a:ea typeface="Calibri"/>
                          <a:cs typeface="Times New Roman"/>
                        </a:rPr>
                        <a:t>Performance</a:t>
                      </a:r>
                      <a:endParaRPr lang="en-GB" sz="1600" dirty="0">
                        <a:latin typeface="Arial"/>
                        <a:ea typeface="Calibri"/>
                        <a:cs typeface="Times New Roman"/>
                      </a:endParaRPr>
                    </a:p>
                  </a:txBody>
                  <a:tcPr marL="73025" marR="73025" marT="0" marB="73025"/>
                </a:tc>
                <a:tc>
                  <a:txBody>
                    <a:bodyPr/>
                    <a:lstStyle/>
                    <a:p>
                      <a:pPr>
                        <a:spcAft>
                          <a:spcPts val="600"/>
                        </a:spcAft>
                      </a:pPr>
                      <a:r>
                        <a:rPr lang="en-US" sz="1600" dirty="0">
                          <a:latin typeface="Arial"/>
                          <a:ea typeface="Calibri"/>
                          <a:cs typeface="Times New Roman"/>
                        </a:rPr>
                        <a:t>Is the performance of the system adequate? Do performance problems have a significant effect on system users?</a:t>
                      </a:r>
                      <a:endParaRPr lang="en-GB" sz="1600" dirty="0">
                        <a:latin typeface="Arial"/>
                        <a:ea typeface="Calibri"/>
                        <a:cs typeface="Times New Roman"/>
                      </a:endParaRPr>
                    </a:p>
                  </a:txBody>
                  <a:tcPr marL="73025" marR="73025" marT="0" marB="73025"/>
                </a:tc>
                <a:extLst>
                  <a:ext uri="{0D108BD9-81ED-4DB2-BD59-A6C34878D82A}">
                    <a16:rowId xmlns:a16="http://schemas.microsoft.com/office/drawing/2014/main" val="10004"/>
                  </a:ext>
                </a:extLst>
              </a:tr>
            </a:tbl>
          </a:graphicData>
        </a:graphic>
      </p:graphicFrame>
      <p:sp>
        <p:nvSpPr>
          <p:cNvPr id="7" name="Slide Number Placeholder 6"/>
          <p:cNvSpPr>
            <a:spLocks noGrp="1"/>
          </p:cNvSpPr>
          <p:nvPr>
            <p:ph type="sldNum" sz="quarter" idx="12"/>
          </p:nvPr>
        </p:nvSpPr>
        <p:spPr/>
        <p:txBody>
          <a:bodyPr/>
          <a:lstStyle/>
          <a:p>
            <a:fld id="{C8735F24-F0A4-DB4E-AAD6-0E2C6B4C4636}" type="slidenum">
              <a:rPr lang="en-US" smtClean="0"/>
              <a:pPr/>
              <a:t>26</a:t>
            </a:fld>
            <a:endParaRPr lang="en-US" dirty="0"/>
          </a:p>
        </p:txBody>
      </p:sp>
    </p:spTree>
    <p:extLst>
      <p:ext uri="{BB962C8B-B14F-4D97-AF65-F5344CB8AC3E}">
        <p14:creationId xmlns:p14="http://schemas.microsoft.com/office/powerpoint/2010/main" val="2914075630"/>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chemeClr val="accent6"/>
                </a:solidFill>
              </a:rPr>
              <a:t>… Factors Used in Environment</a:t>
            </a:r>
            <a:br>
              <a:rPr lang="en-US" sz="3000" dirty="0">
                <a:solidFill>
                  <a:schemeClr val="accent6"/>
                </a:solidFill>
              </a:rPr>
            </a:br>
            <a:r>
              <a:rPr lang="en-US" sz="3000" dirty="0">
                <a:solidFill>
                  <a:schemeClr val="accent6"/>
                </a:solidFill>
              </a:rPr>
              <a:t>     Assessment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43443207"/>
              </p:ext>
            </p:extLst>
          </p:nvPr>
        </p:nvGraphicFramePr>
        <p:xfrm>
          <a:off x="457200" y="1877886"/>
          <a:ext cx="8229600" cy="3028315"/>
        </p:xfrm>
        <a:graphic>
          <a:graphicData uri="http://schemas.openxmlformats.org/drawingml/2006/table">
            <a:tbl>
              <a:tblPr firstRow="1" bandRow="1">
                <a:tableStyleId>{5C22544A-7EE6-4342-B048-85BDC9FD1C3A}</a:tableStyleId>
              </a:tblPr>
              <a:tblGrid>
                <a:gridCol w="2650476">
                  <a:extLst>
                    <a:ext uri="{9D8B030D-6E8A-4147-A177-3AD203B41FA5}">
                      <a16:colId xmlns:a16="http://schemas.microsoft.com/office/drawing/2014/main" val="20000"/>
                    </a:ext>
                  </a:extLst>
                </a:gridCol>
                <a:gridCol w="5579124">
                  <a:extLst>
                    <a:ext uri="{9D8B030D-6E8A-4147-A177-3AD203B41FA5}">
                      <a16:colId xmlns:a16="http://schemas.microsoft.com/office/drawing/2014/main" val="20001"/>
                    </a:ext>
                  </a:extLst>
                </a:gridCol>
              </a:tblGrid>
              <a:tr h="370840">
                <a:tc>
                  <a:txBody>
                    <a:bodyPr/>
                    <a:lstStyle/>
                    <a:p>
                      <a:r>
                        <a:rPr lang="en-US" dirty="0"/>
                        <a:t>Factor</a:t>
                      </a:r>
                    </a:p>
                  </a:txBody>
                  <a:tcPr/>
                </a:tc>
                <a:tc>
                  <a:txBody>
                    <a:bodyPr/>
                    <a:lstStyle/>
                    <a:p>
                      <a:r>
                        <a:rPr lang="en-US" dirty="0"/>
                        <a:t>Questions</a:t>
                      </a:r>
                    </a:p>
                  </a:txBody>
                  <a:tcPr/>
                </a:tc>
                <a:extLst>
                  <a:ext uri="{0D108BD9-81ED-4DB2-BD59-A6C34878D82A}">
                    <a16:rowId xmlns:a16="http://schemas.microsoft.com/office/drawing/2014/main" val="10000"/>
                  </a:ext>
                </a:extLst>
              </a:tr>
              <a:tr h="370840">
                <a:tc>
                  <a:txBody>
                    <a:bodyPr/>
                    <a:lstStyle/>
                    <a:p>
                      <a:pPr>
                        <a:spcAft>
                          <a:spcPts val="600"/>
                        </a:spcAft>
                      </a:pPr>
                      <a:r>
                        <a:rPr lang="en-US" sz="1600" dirty="0">
                          <a:latin typeface="Arial"/>
                          <a:ea typeface="Calibri"/>
                          <a:cs typeface="Times New Roman"/>
                        </a:rPr>
                        <a:t>Support requirements</a:t>
                      </a:r>
                      <a:endParaRPr lang="en-GB" sz="1600" dirty="0">
                        <a:latin typeface="Arial"/>
                        <a:ea typeface="Calibri"/>
                        <a:cs typeface="Times New Roman"/>
                      </a:endParaRPr>
                    </a:p>
                  </a:txBody>
                  <a:tcPr marL="73025" marR="73025" marT="0" marB="73025"/>
                </a:tc>
                <a:tc>
                  <a:txBody>
                    <a:bodyPr/>
                    <a:lstStyle/>
                    <a:p>
                      <a:pPr>
                        <a:spcAft>
                          <a:spcPts val="600"/>
                        </a:spcAft>
                      </a:pPr>
                      <a:r>
                        <a:rPr lang="en-US" sz="1600" dirty="0">
                          <a:latin typeface="Arial"/>
                          <a:ea typeface="Calibri"/>
                          <a:cs typeface="Times New Roman"/>
                        </a:rPr>
                        <a:t>What local support is required by the hardware &amp; software? If there are high costs associated with this support, it may be worth considering system replacement.</a:t>
                      </a:r>
                      <a:endParaRPr lang="en-GB" sz="1600" dirty="0">
                        <a:latin typeface="Arial"/>
                        <a:ea typeface="Calibri"/>
                        <a:cs typeface="Times New Roman"/>
                      </a:endParaRPr>
                    </a:p>
                  </a:txBody>
                  <a:tcPr marL="73025" marR="73025" marT="0" marB="73025"/>
                </a:tc>
                <a:extLst>
                  <a:ext uri="{0D108BD9-81ED-4DB2-BD59-A6C34878D82A}">
                    <a16:rowId xmlns:a16="http://schemas.microsoft.com/office/drawing/2014/main" val="10001"/>
                  </a:ext>
                </a:extLst>
              </a:tr>
              <a:tr h="370840">
                <a:tc>
                  <a:txBody>
                    <a:bodyPr/>
                    <a:lstStyle/>
                    <a:p>
                      <a:pPr>
                        <a:spcAft>
                          <a:spcPts val="600"/>
                        </a:spcAft>
                      </a:pPr>
                      <a:r>
                        <a:rPr lang="en-US" sz="1600" dirty="0">
                          <a:latin typeface="Arial"/>
                          <a:ea typeface="Calibri"/>
                          <a:cs typeface="Times New Roman"/>
                        </a:rPr>
                        <a:t>Maintenance costs</a:t>
                      </a:r>
                      <a:endParaRPr lang="en-GB" sz="1600" dirty="0">
                        <a:latin typeface="Arial"/>
                        <a:ea typeface="Calibri"/>
                        <a:cs typeface="Times New Roman"/>
                      </a:endParaRPr>
                    </a:p>
                  </a:txBody>
                  <a:tcPr marL="73025" marR="73025" marT="0" marB="73025"/>
                </a:tc>
                <a:tc>
                  <a:txBody>
                    <a:bodyPr/>
                    <a:lstStyle/>
                    <a:p>
                      <a:pPr>
                        <a:spcAft>
                          <a:spcPts val="600"/>
                        </a:spcAft>
                      </a:pPr>
                      <a:r>
                        <a:rPr lang="en-US" sz="1600" dirty="0">
                          <a:latin typeface="Arial"/>
                          <a:ea typeface="Calibri"/>
                          <a:cs typeface="Times New Roman"/>
                        </a:rPr>
                        <a:t>What are the costs of hardware maintenance &amp; support software licences? Older hardware may have higher maintenance costs than modern systems. Support software may have high annual licensing costs.</a:t>
                      </a:r>
                      <a:endParaRPr lang="en-GB" sz="1600" dirty="0">
                        <a:latin typeface="Arial"/>
                        <a:ea typeface="Calibri"/>
                        <a:cs typeface="Times New Roman"/>
                      </a:endParaRPr>
                    </a:p>
                  </a:txBody>
                  <a:tcPr marL="73025" marR="73025" marT="0" marB="73025"/>
                </a:tc>
                <a:extLst>
                  <a:ext uri="{0D108BD9-81ED-4DB2-BD59-A6C34878D82A}">
                    <a16:rowId xmlns:a16="http://schemas.microsoft.com/office/drawing/2014/main" val="10002"/>
                  </a:ext>
                </a:extLst>
              </a:tr>
              <a:tr h="370840">
                <a:tc>
                  <a:txBody>
                    <a:bodyPr/>
                    <a:lstStyle/>
                    <a:p>
                      <a:pPr>
                        <a:spcAft>
                          <a:spcPts val="600"/>
                        </a:spcAft>
                      </a:pPr>
                      <a:r>
                        <a:rPr lang="en-US" sz="1600" dirty="0">
                          <a:latin typeface="Arial"/>
                          <a:ea typeface="Calibri"/>
                          <a:cs typeface="Times New Roman"/>
                        </a:rPr>
                        <a:t>Interoperability</a:t>
                      </a:r>
                      <a:endParaRPr lang="en-GB" sz="1600" dirty="0">
                        <a:latin typeface="Arial"/>
                        <a:ea typeface="Calibri"/>
                        <a:cs typeface="Times New Roman"/>
                      </a:endParaRPr>
                    </a:p>
                  </a:txBody>
                  <a:tcPr marL="73025" marR="73025" marT="0" marB="73025"/>
                </a:tc>
                <a:tc>
                  <a:txBody>
                    <a:bodyPr/>
                    <a:lstStyle/>
                    <a:p>
                      <a:pPr>
                        <a:spcAft>
                          <a:spcPts val="600"/>
                        </a:spcAft>
                      </a:pPr>
                      <a:r>
                        <a:rPr lang="en-US" sz="1600" dirty="0">
                          <a:latin typeface="Arial"/>
                          <a:ea typeface="Calibri"/>
                          <a:cs typeface="Times New Roman"/>
                        </a:rPr>
                        <a:t>Are there problems interfacing the system to other systems? Can compilers, for example, be used with current versions of the operating system? Is hardware emulation required?</a:t>
                      </a:r>
                      <a:endParaRPr lang="en-GB" sz="1600" dirty="0">
                        <a:latin typeface="Arial"/>
                        <a:ea typeface="Calibri"/>
                        <a:cs typeface="Times New Roman"/>
                      </a:endParaRPr>
                    </a:p>
                  </a:txBody>
                  <a:tcPr marL="73025" marR="73025" marT="0" marB="73025"/>
                </a:tc>
                <a:extLst>
                  <a:ext uri="{0D108BD9-81ED-4DB2-BD59-A6C34878D82A}">
                    <a16:rowId xmlns:a16="http://schemas.microsoft.com/office/drawing/2014/main" val="10003"/>
                  </a:ext>
                </a:extLst>
              </a:tr>
            </a:tbl>
          </a:graphicData>
        </a:graphic>
      </p:graphicFrame>
      <p:sp>
        <p:nvSpPr>
          <p:cNvPr id="7" name="Slide Number Placeholder 6"/>
          <p:cNvSpPr>
            <a:spLocks noGrp="1"/>
          </p:cNvSpPr>
          <p:nvPr>
            <p:ph type="sldNum" sz="quarter" idx="12"/>
          </p:nvPr>
        </p:nvSpPr>
        <p:spPr/>
        <p:txBody>
          <a:bodyPr/>
          <a:lstStyle/>
          <a:p>
            <a:fld id="{C8735F24-F0A4-DB4E-AAD6-0E2C6B4C4636}" type="slidenum">
              <a:rPr lang="en-US" smtClean="0"/>
              <a:pPr/>
              <a:t>27</a:t>
            </a:fld>
            <a:endParaRPr lang="en-US" dirty="0"/>
          </a:p>
        </p:txBody>
      </p:sp>
    </p:spTree>
    <p:extLst>
      <p:ext uri="{BB962C8B-B14F-4D97-AF65-F5344CB8AC3E}">
        <p14:creationId xmlns:p14="http://schemas.microsoft.com/office/powerpoint/2010/main" val="536505484"/>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492"/>
            <a:ext cx="8229600" cy="1143000"/>
          </a:xfrm>
        </p:spPr>
        <p:txBody>
          <a:bodyPr/>
          <a:lstStyle/>
          <a:p>
            <a:r>
              <a:rPr lang="en-US" sz="3000" dirty="0">
                <a:solidFill>
                  <a:schemeClr val="accent6"/>
                </a:solidFill>
              </a:rPr>
              <a:t>Factors Used in Application Assessment</a:t>
            </a:r>
            <a:r>
              <a:rPr lang="en-GB" sz="3000" dirty="0">
                <a:solidFill>
                  <a:schemeClr val="accent6"/>
                </a:solidFill>
              </a:rPr>
              <a:t> </a:t>
            </a:r>
            <a:endParaRPr lang="en-US" sz="3000" dirty="0">
              <a:solidFill>
                <a:schemeClr val="accent6"/>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899058636"/>
              </p:ext>
            </p:extLst>
          </p:nvPr>
        </p:nvGraphicFramePr>
        <p:xfrm>
          <a:off x="457200" y="2290118"/>
          <a:ext cx="8229600" cy="3120390"/>
        </p:xfrm>
        <a:graphic>
          <a:graphicData uri="http://schemas.openxmlformats.org/drawingml/2006/table">
            <a:tbl>
              <a:tblPr firstRow="1" bandRow="1">
                <a:tableStyleId>{5C22544A-7EE6-4342-B048-85BDC9FD1C3A}</a:tableStyleId>
              </a:tblPr>
              <a:tblGrid>
                <a:gridCol w="2123523">
                  <a:extLst>
                    <a:ext uri="{9D8B030D-6E8A-4147-A177-3AD203B41FA5}">
                      <a16:colId xmlns:a16="http://schemas.microsoft.com/office/drawing/2014/main" val="20000"/>
                    </a:ext>
                  </a:extLst>
                </a:gridCol>
                <a:gridCol w="6106077">
                  <a:extLst>
                    <a:ext uri="{9D8B030D-6E8A-4147-A177-3AD203B41FA5}">
                      <a16:colId xmlns:a16="http://schemas.microsoft.com/office/drawing/2014/main" val="20001"/>
                    </a:ext>
                  </a:extLst>
                </a:gridCol>
              </a:tblGrid>
              <a:tr h="370840">
                <a:tc>
                  <a:txBody>
                    <a:bodyPr/>
                    <a:lstStyle/>
                    <a:p>
                      <a:pPr>
                        <a:spcAft>
                          <a:spcPts val="600"/>
                        </a:spcAft>
                      </a:pPr>
                      <a:r>
                        <a:rPr lang="en-US" sz="1600" dirty="0">
                          <a:latin typeface="Arial"/>
                          <a:ea typeface="Calibri"/>
                          <a:cs typeface="Arial"/>
                        </a:rPr>
                        <a:t>Factor</a:t>
                      </a:r>
                      <a:endParaRPr lang="en-GB" sz="1600" dirty="0">
                        <a:latin typeface="Arial"/>
                        <a:ea typeface="Calibri"/>
                        <a:cs typeface="Arial"/>
                      </a:endParaRPr>
                    </a:p>
                  </a:txBody>
                  <a:tcPr marL="73025" marR="73025" marT="73025" marB="73025"/>
                </a:tc>
                <a:tc>
                  <a:txBody>
                    <a:bodyPr/>
                    <a:lstStyle/>
                    <a:p>
                      <a:pPr>
                        <a:spcAft>
                          <a:spcPts val="600"/>
                        </a:spcAft>
                      </a:pPr>
                      <a:r>
                        <a:rPr lang="en-US" sz="1600" dirty="0">
                          <a:latin typeface="Arial"/>
                          <a:ea typeface="Calibri"/>
                          <a:cs typeface="Arial"/>
                        </a:rPr>
                        <a:t>Questions</a:t>
                      </a:r>
                      <a:endParaRPr lang="en-GB" sz="1600" dirty="0">
                        <a:latin typeface="Arial"/>
                        <a:ea typeface="Calibri"/>
                        <a:cs typeface="Arial"/>
                      </a:endParaRPr>
                    </a:p>
                  </a:txBody>
                  <a:tcPr marL="73025" marR="73025" marT="73025" marB="73025"/>
                </a:tc>
                <a:extLst>
                  <a:ext uri="{0D108BD9-81ED-4DB2-BD59-A6C34878D82A}">
                    <a16:rowId xmlns:a16="http://schemas.microsoft.com/office/drawing/2014/main" val="10000"/>
                  </a:ext>
                </a:extLst>
              </a:tr>
              <a:tr h="370840">
                <a:tc>
                  <a:txBody>
                    <a:bodyPr/>
                    <a:lstStyle/>
                    <a:p>
                      <a:pPr>
                        <a:spcAft>
                          <a:spcPts val="600"/>
                        </a:spcAft>
                      </a:pPr>
                      <a:r>
                        <a:rPr lang="en-US" sz="1600" dirty="0">
                          <a:latin typeface="Arial"/>
                          <a:ea typeface="Calibri"/>
                          <a:cs typeface="Arial"/>
                        </a:rPr>
                        <a:t>Understandability</a:t>
                      </a:r>
                      <a:endParaRPr lang="en-GB" sz="1600" dirty="0">
                        <a:latin typeface="Arial"/>
                        <a:ea typeface="Calibri"/>
                        <a:cs typeface="Arial"/>
                      </a:endParaRPr>
                    </a:p>
                  </a:txBody>
                  <a:tcPr marL="73025" marR="73025" marT="0" marB="73025"/>
                </a:tc>
                <a:tc>
                  <a:txBody>
                    <a:bodyPr/>
                    <a:lstStyle/>
                    <a:p>
                      <a:pPr>
                        <a:spcAft>
                          <a:spcPts val="600"/>
                        </a:spcAft>
                      </a:pPr>
                      <a:r>
                        <a:rPr lang="en-US" sz="1600" dirty="0">
                          <a:latin typeface="Arial"/>
                          <a:ea typeface="Calibri"/>
                          <a:cs typeface="Arial"/>
                        </a:rPr>
                        <a:t>How difficult is it to understand the source code of the current system? How complex are the control structures that are used? Do variables have meaningful names that reflect their function?</a:t>
                      </a:r>
                      <a:endParaRPr lang="en-GB" sz="1600" dirty="0">
                        <a:latin typeface="Arial"/>
                        <a:ea typeface="Calibri"/>
                        <a:cs typeface="Arial"/>
                      </a:endParaRPr>
                    </a:p>
                  </a:txBody>
                  <a:tcPr marL="73025" marR="73025" marT="0" marB="73025"/>
                </a:tc>
                <a:extLst>
                  <a:ext uri="{0D108BD9-81ED-4DB2-BD59-A6C34878D82A}">
                    <a16:rowId xmlns:a16="http://schemas.microsoft.com/office/drawing/2014/main" val="10001"/>
                  </a:ext>
                </a:extLst>
              </a:tr>
              <a:tr h="370840">
                <a:tc>
                  <a:txBody>
                    <a:bodyPr/>
                    <a:lstStyle/>
                    <a:p>
                      <a:pPr>
                        <a:spcAft>
                          <a:spcPts val="600"/>
                        </a:spcAft>
                      </a:pPr>
                      <a:r>
                        <a:rPr lang="en-US" sz="1600" dirty="0">
                          <a:latin typeface="Arial"/>
                          <a:ea typeface="Calibri"/>
                          <a:cs typeface="Arial"/>
                        </a:rPr>
                        <a:t>Documentation</a:t>
                      </a:r>
                      <a:endParaRPr lang="en-GB" sz="1600" dirty="0">
                        <a:latin typeface="Arial"/>
                        <a:ea typeface="Calibri"/>
                        <a:cs typeface="Arial"/>
                      </a:endParaRPr>
                    </a:p>
                  </a:txBody>
                  <a:tcPr marL="73025" marR="73025" marT="0" marB="73025"/>
                </a:tc>
                <a:tc>
                  <a:txBody>
                    <a:bodyPr/>
                    <a:lstStyle/>
                    <a:p>
                      <a:pPr>
                        <a:spcAft>
                          <a:spcPts val="600"/>
                        </a:spcAft>
                      </a:pPr>
                      <a:r>
                        <a:rPr lang="en-US" sz="1600" dirty="0">
                          <a:latin typeface="Arial"/>
                          <a:ea typeface="Calibri"/>
                          <a:cs typeface="Arial"/>
                        </a:rPr>
                        <a:t>What system documentation is available? Is the documentation complete, consistent, &amp; current?</a:t>
                      </a:r>
                      <a:endParaRPr lang="en-GB" sz="1600" dirty="0">
                        <a:latin typeface="Arial"/>
                        <a:ea typeface="Calibri"/>
                        <a:cs typeface="Arial"/>
                      </a:endParaRPr>
                    </a:p>
                  </a:txBody>
                  <a:tcPr marL="73025" marR="73025" marT="0" marB="73025"/>
                </a:tc>
                <a:extLst>
                  <a:ext uri="{0D108BD9-81ED-4DB2-BD59-A6C34878D82A}">
                    <a16:rowId xmlns:a16="http://schemas.microsoft.com/office/drawing/2014/main" val="10002"/>
                  </a:ext>
                </a:extLst>
              </a:tr>
              <a:tr h="370840">
                <a:tc>
                  <a:txBody>
                    <a:bodyPr/>
                    <a:lstStyle/>
                    <a:p>
                      <a:pPr>
                        <a:spcAft>
                          <a:spcPts val="600"/>
                        </a:spcAft>
                      </a:pPr>
                      <a:r>
                        <a:rPr lang="en-US" sz="1600" dirty="0">
                          <a:latin typeface="Arial"/>
                          <a:ea typeface="Calibri"/>
                          <a:cs typeface="Arial"/>
                        </a:rPr>
                        <a:t>Data</a:t>
                      </a:r>
                      <a:endParaRPr lang="en-GB" sz="1600" dirty="0">
                        <a:latin typeface="Arial"/>
                        <a:ea typeface="Calibri"/>
                        <a:cs typeface="Arial"/>
                      </a:endParaRPr>
                    </a:p>
                  </a:txBody>
                  <a:tcPr marL="73025" marR="73025" marT="0" marB="73025"/>
                </a:tc>
                <a:tc>
                  <a:txBody>
                    <a:bodyPr/>
                    <a:lstStyle/>
                    <a:p>
                      <a:pPr>
                        <a:spcAft>
                          <a:spcPts val="600"/>
                        </a:spcAft>
                      </a:pPr>
                      <a:r>
                        <a:rPr lang="en-US" sz="1600" dirty="0">
                          <a:latin typeface="Arial"/>
                          <a:ea typeface="Calibri"/>
                          <a:cs typeface="Arial"/>
                        </a:rPr>
                        <a:t>Is there an explicit data model for the system? To what extent is data duplicated across files? Is the data used by the system up to date &amp; consistent?</a:t>
                      </a:r>
                      <a:endParaRPr lang="en-GB" sz="1600" dirty="0">
                        <a:latin typeface="Arial"/>
                        <a:ea typeface="Calibri"/>
                        <a:cs typeface="Arial"/>
                      </a:endParaRPr>
                    </a:p>
                  </a:txBody>
                  <a:tcPr marL="73025" marR="73025" marT="0" marB="73025"/>
                </a:tc>
                <a:extLst>
                  <a:ext uri="{0D108BD9-81ED-4DB2-BD59-A6C34878D82A}">
                    <a16:rowId xmlns:a16="http://schemas.microsoft.com/office/drawing/2014/main" val="10003"/>
                  </a:ext>
                </a:extLst>
              </a:tr>
              <a:tr h="370840">
                <a:tc>
                  <a:txBody>
                    <a:bodyPr/>
                    <a:lstStyle/>
                    <a:p>
                      <a:pPr>
                        <a:spcAft>
                          <a:spcPts val="600"/>
                        </a:spcAft>
                      </a:pPr>
                      <a:r>
                        <a:rPr lang="en-US" sz="1600" dirty="0">
                          <a:latin typeface="Arial"/>
                          <a:ea typeface="Calibri"/>
                          <a:cs typeface="Arial"/>
                        </a:rPr>
                        <a:t>Performance</a:t>
                      </a:r>
                      <a:endParaRPr lang="en-GB" sz="1600" dirty="0">
                        <a:latin typeface="Arial"/>
                        <a:ea typeface="Calibri"/>
                        <a:cs typeface="Arial"/>
                      </a:endParaRPr>
                    </a:p>
                  </a:txBody>
                  <a:tcPr marL="73025" marR="73025" marT="0" marB="73025"/>
                </a:tc>
                <a:tc>
                  <a:txBody>
                    <a:bodyPr/>
                    <a:lstStyle/>
                    <a:p>
                      <a:pPr>
                        <a:spcAft>
                          <a:spcPts val="600"/>
                        </a:spcAft>
                      </a:pPr>
                      <a:r>
                        <a:rPr lang="en-US" sz="1600" dirty="0">
                          <a:latin typeface="Arial"/>
                          <a:ea typeface="Calibri"/>
                          <a:cs typeface="Arial"/>
                        </a:rPr>
                        <a:t>Is the performance of the application adequate? Do performance problems have a significant effect on system users?</a:t>
                      </a:r>
                      <a:endParaRPr lang="en-GB" sz="1600" dirty="0">
                        <a:latin typeface="Arial"/>
                        <a:ea typeface="Calibri"/>
                        <a:cs typeface="Arial"/>
                      </a:endParaRPr>
                    </a:p>
                  </a:txBody>
                  <a:tcPr marL="73025" marR="73025" marT="0" marB="73025"/>
                </a:tc>
                <a:extLst>
                  <a:ext uri="{0D108BD9-81ED-4DB2-BD59-A6C34878D82A}">
                    <a16:rowId xmlns:a16="http://schemas.microsoft.com/office/drawing/2014/main" val="10004"/>
                  </a:ext>
                </a:extLst>
              </a:tr>
            </a:tbl>
          </a:graphicData>
        </a:graphic>
      </p:graphicFrame>
      <p:sp>
        <p:nvSpPr>
          <p:cNvPr id="7" name="Slide Number Placeholder 6"/>
          <p:cNvSpPr>
            <a:spLocks noGrp="1"/>
          </p:cNvSpPr>
          <p:nvPr>
            <p:ph type="sldNum" sz="quarter" idx="12"/>
          </p:nvPr>
        </p:nvSpPr>
        <p:spPr/>
        <p:txBody>
          <a:bodyPr/>
          <a:lstStyle/>
          <a:p>
            <a:fld id="{C8735F24-F0A4-DB4E-AAD6-0E2C6B4C4636}" type="slidenum">
              <a:rPr lang="en-US" smtClean="0"/>
              <a:pPr/>
              <a:t>28</a:t>
            </a:fld>
            <a:endParaRPr lang="en-US" dirty="0"/>
          </a:p>
        </p:txBody>
      </p:sp>
    </p:spTree>
    <p:extLst>
      <p:ext uri="{BB962C8B-B14F-4D97-AF65-F5344CB8AC3E}">
        <p14:creationId xmlns:p14="http://schemas.microsoft.com/office/powerpoint/2010/main" val="3744295751"/>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229599" cy="1143000"/>
          </a:xfrm>
        </p:spPr>
        <p:txBody>
          <a:bodyPr/>
          <a:lstStyle/>
          <a:p>
            <a:r>
              <a:rPr lang="en-US" sz="3000" dirty="0">
                <a:solidFill>
                  <a:schemeClr val="accent6"/>
                </a:solidFill>
              </a:rPr>
              <a:t>… Factors Used in Application Assessment</a:t>
            </a:r>
          </a:p>
        </p:txBody>
      </p:sp>
      <p:graphicFrame>
        <p:nvGraphicFramePr>
          <p:cNvPr id="4" name="Content Placeholder 3"/>
          <p:cNvGraphicFramePr>
            <a:graphicFrameLocks noGrp="1"/>
          </p:cNvGraphicFramePr>
          <p:nvPr>
            <p:ph idx="1"/>
          </p:nvPr>
        </p:nvGraphicFramePr>
        <p:xfrm>
          <a:off x="457200" y="1999476"/>
          <a:ext cx="8229600" cy="3832860"/>
        </p:xfrm>
        <a:graphic>
          <a:graphicData uri="http://schemas.openxmlformats.org/drawingml/2006/table">
            <a:tbl>
              <a:tblPr firstRow="1" bandRow="1">
                <a:tableStyleId>{5C22544A-7EE6-4342-B048-85BDC9FD1C3A}</a:tableStyleId>
              </a:tblPr>
              <a:tblGrid>
                <a:gridCol w="2569407">
                  <a:extLst>
                    <a:ext uri="{9D8B030D-6E8A-4147-A177-3AD203B41FA5}">
                      <a16:colId xmlns:a16="http://schemas.microsoft.com/office/drawing/2014/main" val="20000"/>
                    </a:ext>
                  </a:extLst>
                </a:gridCol>
                <a:gridCol w="5660193">
                  <a:extLst>
                    <a:ext uri="{9D8B030D-6E8A-4147-A177-3AD203B41FA5}">
                      <a16:colId xmlns:a16="http://schemas.microsoft.com/office/drawing/2014/main" val="20001"/>
                    </a:ext>
                  </a:extLst>
                </a:gridCol>
              </a:tblGrid>
              <a:tr h="370840">
                <a:tc>
                  <a:txBody>
                    <a:bodyPr/>
                    <a:lstStyle/>
                    <a:p>
                      <a:r>
                        <a:rPr lang="en-US" dirty="0"/>
                        <a:t>Factor</a:t>
                      </a:r>
                    </a:p>
                  </a:txBody>
                  <a:tcPr/>
                </a:tc>
                <a:tc>
                  <a:txBody>
                    <a:bodyPr/>
                    <a:lstStyle/>
                    <a:p>
                      <a:r>
                        <a:rPr lang="en-US" dirty="0"/>
                        <a:t>Questions</a:t>
                      </a:r>
                    </a:p>
                  </a:txBody>
                  <a:tcPr/>
                </a:tc>
                <a:extLst>
                  <a:ext uri="{0D108BD9-81ED-4DB2-BD59-A6C34878D82A}">
                    <a16:rowId xmlns:a16="http://schemas.microsoft.com/office/drawing/2014/main" val="10000"/>
                  </a:ext>
                </a:extLst>
              </a:tr>
              <a:tr h="370840">
                <a:tc>
                  <a:txBody>
                    <a:bodyPr/>
                    <a:lstStyle/>
                    <a:p>
                      <a:pPr>
                        <a:spcAft>
                          <a:spcPts val="600"/>
                        </a:spcAft>
                      </a:pPr>
                      <a:r>
                        <a:rPr lang="en-US" sz="1600" dirty="0">
                          <a:latin typeface="Arial"/>
                          <a:ea typeface="Calibri"/>
                          <a:cs typeface="Arial"/>
                        </a:rPr>
                        <a:t>Programming language</a:t>
                      </a:r>
                      <a:endParaRPr lang="en-GB" sz="1600" dirty="0">
                        <a:latin typeface="Arial"/>
                        <a:ea typeface="Calibri"/>
                        <a:cs typeface="Arial"/>
                      </a:endParaRPr>
                    </a:p>
                  </a:txBody>
                  <a:tcPr marL="73025" marR="73025" marT="0" marB="73025"/>
                </a:tc>
                <a:tc>
                  <a:txBody>
                    <a:bodyPr/>
                    <a:lstStyle/>
                    <a:p>
                      <a:pPr>
                        <a:spcAft>
                          <a:spcPts val="600"/>
                        </a:spcAft>
                      </a:pPr>
                      <a:r>
                        <a:rPr lang="en-US" sz="1600" dirty="0">
                          <a:latin typeface="Arial"/>
                          <a:ea typeface="Calibri"/>
                          <a:cs typeface="Arial"/>
                        </a:rPr>
                        <a:t>Are modern compilers available for the programming language used to develop the system? Is the programming language still used for new system development?</a:t>
                      </a:r>
                      <a:endParaRPr lang="en-GB" sz="1600" dirty="0">
                        <a:latin typeface="Arial"/>
                        <a:ea typeface="Calibri"/>
                        <a:cs typeface="Arial"/>
                      </a:endParaRPr>
                    </a:p>
                  </a:txBody>
                  <a:tcPr marL="73025" marR="73025" marT="0" marB="73025"/>
                </a:tc>
                <a:extLst>
                  <a:ext uri="{0D108BD9-81ED-4DB2-BD59-A6C34878D82A}">
                    <a16:rowId xmlns:a16="http://schemas.microsoft.com/office/drawing/2014/main" val="10001"/>
                  </a:ext>
                </a:extLst>
              </a:tr>
              <a:tr h="370840">
                <a:tc>
                  <a:txBody>
                    <a:bodyPr/>
                    <a:lstStyle/>
                    <a:p>
                      <a:pPr>
                        <a:spcAft>
                          <a:spcPts val="600"/>
                        </a:spcAft>
                      </a:pPr>
                      <a:r>
                        <a:rPr lang="en-US" sz="1600" dirty="0">
                          <a:latin typeface="Arial"/>
                          <a:ea typeface="Calibri"/>
                          <a:cs typeface="Arial"/>
                        </a:rPr>
                        <a:t>Configuration management</a:t>
                      </a:r>
                      <a:endParaRPr lang="en-GB" sz="1600" dirty="0">
                        <a:latin typeface="Arial"/>
                        <a:ea typeface="Calibri"/>
                        <a:cs typeface="Arial"/>
                      </a:endParaRPr>
                    </a:p>
                  </a:txBody>
                  <a:tcPr marL="73025" marR="73025" marT="0" marB="73025"/>
                </a:tc>
                <a:tc>
                  <a:txBody>
                    <a:bodyPr/>
                    <a:lstStyle/>
                    <a:p>
                      <a:pPr>
                        <a:spcAft>
                          <a:spcPts val="600"/>
                        </a:spcAft>
                      </a:pPr>
                      <a:r>
                        <a:rPr lang="en-US" sz="1600" dirty="0">
                          <a:latin typeface="Arial"/>
                          <a:ea typeface="Calibri"/>
                          <a:cs typeface="Arial"/>
                        </a:rPr>
                        <a:t>Are all versions of all parts of the system managed by a configuration management system? Is there an explicit description of the versions of components that are used in the current system?</a:t>
                      </a:r>
                      <a:endParaRPr lang="en-GB" sz="1600" dirty="0">
                        <a:latin typeface="Arial"/>
                        <a:ea typeface="Calibri"/>
                        <a:cs typeface="Arial"/>
                      </a:endParaRPr>
                    </a:p>
                  </a:txBody>
                  <a:tcPr marL="73025" marR="73025" marT="0" marB="73025"/>
                </a:tc>
                <a:extLst>
                  <a:ext uri="{0D108BD9-81ED-4DB2-BD59-A6C34878D82A}">
                    <a16:rowId xmlns:a16="http://schemas.microsoft.com/office/drawing/2014/main" val="10002"/>
                  </a:ext>
                </a:extLst>
              </a:tr>
              <a:tr h="370840">
                <a:tc>
                  <a:txBody>
                    <a:bodyPr/>
                    <a:lstStyle/>
                    <a:p>
                      <a:pPr>
                        <a:spcAft>
                          <a:spcPts val="600"/>
                        </a:spcAft>
                      </a:pPr>
                      <a:r>
                        <a:rPr lang="en-US" sz="1600" dirty="0">
                          <a:latin typeface="Arial"/>
                          <a:ea typeface="Calibri"/>
                          <a:cs typeface="Arial"/>
                        </a:rPr>
                        <a:t>Test data</a:t>
                      </a:r>
                      <a:endParaRPr lang="en-GB" sz="1600" dirty="0">
                        <a:latin typeface="Arial"/>
                        <a:ea typeface="Calibri"/>
                        <a:cs typeface="Arial"/>
                      </a:endParaRPr>
                    </a:p>
                  </a:txBody>
                  <a:tcPr marL="73025" marR="73025" marT="0" marB="73025"/>
                </a:tc>
                <a:tc>
                  <a:txBody>
                    <a:bodyPr/>
                    <a:lstStyle/>
                    <a:p>
                      <a:pPr>
                        <a:spcAft>
                          <a:spcPts val="600"/>
                        </a:spcAft>
                      </a:pPr>
                      <a:r>
                        <a:rPr lang="en-US" sz="1600" dirty="0">
                          <a:latin typeface="Arial"/>
                          <a:ea typeface="Calibri"/>
                          <a:cs typeface="Arial"/>
                        </a:rPr>
                        <a:t>Does test data for the system exist? Is there a record of regression tests carried out when new features have been added to the system? </a:t>
                      </a:r>
                      <a:endParaRPr lang="en-GB" sz="1600" dirty="0">
                        <a:latin typeface="Arial"/>
                        <a:ea typeface="Calibri"/>
                        <a:cs typeface="Arial"/>
                      </a:endParaRPr>
                    </a:p>
                  </a:txBody>
                  <a:tcPr marL="73025" marR="73025" marT="0" marB="73025"/>
                </a:tc>
                <a:extLst>
                  <a:ext uri="{0D108BD9-81ED-4DB2-BD59-A6C34878D82A}">
                    <a16:rowId xmlns:a16="http://schemas.microsoft.com/office/drawing/2014/main" val="10003"/>
                  </a:ext>
                </a:extLst>
              </a:tr>
              <a:tr h="370840">
                <a:tc>
                  <a:txBody>
                    <a:bodyPr/>
                    <a:lstStyle/>
                    <a:p>
                      <a:pPr>
                        <a:spcAft>
                          <a:spcPts val="600"/>
                        </a:spcAft>
                      </a:pPr>
                      <a:r>
                        <a:rPr lang="en-US" sz="1600" dirty="0">
                          <a:latin typeface="Arial"/>
                          <a:ea typeface="Calibri"/>
                          <a:cs typeface="Arial"/>
                        </a:rPr>
                        <a:t>Personnel skills</a:t>
                      </a:r>
                      <a:endParaRPr lang="en-GB" sz="1600" dirty="0">
                        <a:latin typeface="Arial"/>
                        <a:ea typeface="Calibri"/>
                        <a:cs typeface="Arial"/>
                      </a:endParaRPr>
                    </a:p>
                  </a:txBody>
                  <a:tcPr marL="73025" marR="73025" marT="0" marB="73025"/>
                </a:tc>
                <a:tc>
                  <a:txBody>
                    <a:bodyPr/>
                    <a:lstStyle/>
                    <a:p>
                      <a:pPr>
                        <a:spcAft>
                          <a:spcPts val="600"/>
                        </a:spcAft>
                      </a:pPr>
                      <a:r>
                        <a:rPr lang="en-US" sz="1600" dirty="0">
                          <a:latin typeface="Arial"/>
                          <a:ea typeface="Calibri"/>
                          <a:cs typeface="Arial"/>
                        </a:rPr>
                        <a:t>Are there people available who have the skills to maintain the application? Are there people available who have experience with the system? </a:t>
                      </a:r>
                      <a:endParaRPr lang="en-GB" sz="1600" dirty="0">
                        <a:latin typeface="Arial"/>
                        <a:ea typeface="Calibri"/>
                        <a:cs typeface="Arial"/>
                      </a:endParaRPr>
                    </a:p>
                  </a:txBody>
                  <a:tcPr marL="73025" marR="73025" marT="0" marB="73025"/>
                </a:tc>
                <a:extLst>
                  <a:ext uri="{0D108BD9-81ED-4DB2-BD59-A6C34878D82A}">
                    <a16:rowId xmlns:a16="http://schemas.microsoft.com/office/drawing/2014/main" val="10004"/>
                  </a:ext>
                </a:extLst>
              </a:tr>
            </a:tbl>
          </a:graphicData>
        </a:graphic>
      </p:graphicFrame>
      <p:sp>
        <p:nvSpPr>
          <p:cNvPr id="7" name="Slide Number Placeholder 6"/>
          <p:cNvSpPr>
            <a:spLocks noGrp="1"/>
          </p:cNvSpPr>
          <p:nvPr>
            <p:ph type="sldNum" sz="quarter" idx="12"/>
          </p:nvPr>
        </p:nvSpPr>
        <p:spPr/>
        <p:txBody>
          <a:bodyPr/>
          <a:lstStyle/>
          <a:p>
            <a:fld id="{C8735F24-F0A4-DB4E-AAD6-0E2C6B4C4636}" type="slidenum">
              <a:rPr lang="en-US" smtClean="0"/>
              <a:pPr/>
              <a:t>29</a:t>
            </a:fld>
            <a:endParaRPr lang="en-US" dirty="0"/>
          </a:p>
        </p:txBody>
      </p:sp>
    </p:spTree>
    <p:extLst>
      <p:ext uri="{BB962C8B-B14F-4D97-AF65-F5344CB8AC3E}">
        <p14:creationId xmlns:p14="http://schemas.microsoft.com/office/powerpoint/2010/main" val="1483807188"/>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GB" sz="3200" dirty="0">
                <a:solidFill>
                  <a:srgbClr val="FF0000"/>
                </a:solidFill>
              </a:rPr>
              <a:t>System Measurement</a:t>
            </a:r>
          </a:p>
        </p:txBody>
      </p:sp>
      <p:sp>
        <p:nvSpPr>
          <p:cNvPr id="90115" name="Rectangle 3"/>
          <p:cNvSpPr>
            <a:spLocks noGrp="1" noChangeArrowheads="1"/>
          </p:cNvSpPr>
          <p:nvPr>
            <p:ph idx="1"/>
          </p:nvPr>
        </p:nvSpPr>
        <p:spPr>
          <a:xfrm>
            <a:off x="517712" y="1417638"/>
            <a:ext cx="8229600" cy="4525963"/>
          </a:xfrm>
        </p:spPr>
        <p:txBody>
          <a:bodyPr/>
          <a:lstStyle/>
          <a:p>
            <a:r>
              <a:rPr lang="en-GB" dirty="0"/>
              <a:t>You may collect quantitative data to make an assessment of the quality of the application system</a:t>
            </a:r>
          </a:p>
          <a:p>
            <a:pPr lvl="1"/>
            <a:r>
              <a:rPr lang="en-GB" dirty="0">
                <a:solidFill>
                  <a:srgbClr val="009051"/>
                </a:solidFill>
              </a:rPr>
              <a:t>The number of system change requests: </a:t>
            </a:r>
            <a:r>
              <a:rPr lang="en-US" dirty="0"/>
              <a:t>The higher this accumulated value, the lower the quality of the system</a:t>
            </a:r>
            <a:r>
              <a:rPr lang="en-GB" dirty="0"/>
              <a:t> </a:t>
            </a:r>
          </a:p>
          <a:p>
            <a:pPr lvl="1"/>
            <a:r>
              <a:rPr lang="en-GB" dirty="0">
                <a:solidFill>
                  <a:srgbClr val="009051"/>
                </a:solidFill>
              </a:rPr>
              <a:t>The number of different user interfaces used by the system:</a:t>
            </a:r>
            <a:r>
              <a:rPr lang="en-GB" dirty="0"/>
              <a:t> </a:t>
            </a:r>
            <a:r>
              <a:rPr lang="en-US" dirty="0"/>
              <a:t>The more interfaces, the more likely it is that there will be inconsistencies &amp; redundancies in these interfaces</a:t>
            </a:r>
            <a:r>
              <a:rPr lang="en-GB" dirty="0"/>
              <a:t> </a:t>
            </a:r>
          </a:p>
          <a:p>
            <a:pPr lvl="1"/>
            <a:r>
              <a:rPr lang="en-GB" dirty="0">
                <a:solidFill>
                  <a:srgbClr val="009051"/>
                </a:solidFill>
              </a:rPr>
              <a:t>The volume of data used by the system:</a:t>
            </a:r>
            <a:r>
              <a:rPr lang="en-US" dirty="0">
                <a:solidFill>
                  <a:srgbClr val="009051"/>
                </a:solidFill>
              </a:rPr>
              <a:t> </a:t>
            </a:r>
            <a:r>
              <a:rPr lang="en-US" dirty="0"/>
              <a:t>As the volume of data (number of files, size of database, etc.) processed by the system increases, so too do the inconsistencies &amp; errors in that data.</a:t>
            </a:r>
            <a:r>
              <a:rPr lang="en-GB" dirty="0"/>
              <a:t> </a:t>
            </a:r>
          </a:p>
          <a:p>
            <a:pPr lvl="2"/>
            <a:r>
              <a:rPr lang="en-GB" dirty="0"/>
              <a:t>Cleaning up old data is a very expensive &amp; time-consuming process</a:t>
            </a:r>
          </a:p>
        </p:txBody>
      </p:sp>
      <p:sp>
        <p:nvSpPr>
          <p:cNvPr id="6" name="Slide Number Placeholder 5"/>
          <p:cNvSpPr>
            <a:spLocks noGrp="1"/>
          </p:cNvSpPr>
          <p:nvPr>
            <p:ph type="sldNum" sz="quarter" idx="12"/>
          </p:nvPr>
        </p:nvSpPr>
        <p:spPr/>
        <p:txBody>
          <a:bodyPr/>
          <a:lstStyle/>
          <a:p>
            <a:fld id="{C8735F24-F0A4-DB4E-AAD6-0E2C6B4C4636}" type="slidenum">
              <a:rPr lang="en-US" smtClean="0"/>
              <a:pPr/>
              <a:t>30</a:t>
            </a:fld>
            <a:endParaRPr lang="en-US" dirty="0"/>
          </a:p>
        </p:txBody>
      </p:sp>
    </p:spTree>
    <p:extLst>
      <p:ext uri="{BB962C8B-B14F-4D97-AF65-F5344CB8AC3E}">
        <p14:creationId xmlns:p14="http://schemas.microsoft.com/office/powerpoint/2010/main" val="1209461511"/>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title"/>
          </p:nvPr>
        </p:nvSpPr>
        <p:spPr>
          <a:noFill/>
          <a:ln/>
        </p:spPr>
        <p:txBody>
          <a:bodyPr lIns="90840" tIns="44623" rIns="90840" bIns="44623"/>
          <a:lstStyle/>
          <a:p>
            <a:r>
              <a:rPr lang="en-GB" sz="3200" dirty="0">
                <a:solidFill>
                  <a:srgbClr val="FF0000"/>
                </a:solidFill>
              </a:rPr>
              <a:t>Software Maintenance</a:t>
            </a:r>
          </a:p>
        </p:txBody>
      </p:sp>
      <p:sp>
        <p:nvSpPr>
          <p:cNvPr id="8194" name="Rectangle 2"/>
          <p:cNvSpPr>
            <a:spLocks noGrp="1" noChangeArrowheads="1"/>
          </p:cNvSpPr>
          <p:nvPr>
            <p:ph idx="1"/>
          </p:nvPr>
        </p:nvSpPr>
        <p:spPr>
          <a:xfrm>
            <a:off x="457200" y="1519518"/>
            <a:ext cx="8229600" cy="4525963"/>
          </a:xfrm>
          <a:noFill/>
          <a:ln/>
        </p:spPr>
        <p:txBody>
          <a:bodyPr lIns="90840" tIns="44623" rIns="90840" bIns="44623"/>
          <a:lstStyle/>
          <a:p>
            <a:r>
              <a:rPr lang="en-GB" dirty="0"/>
              <a:t>Modifying a program after it has been put into use</a:t>
            </a:r>
          </a:p>
          <a:p>
            <a:r>
              <a:rPr lang="en-GB" dirty="0"/>
              <a:t>The term is mostly used for changing custom software. Generic software products are said to evolve to create </a:t>
            </a:r>
            <a:r>
              <a:rPr lang="en-GB" dirty="0">
                <a:solidFill>
                  <a:srgbClr val="009051"/>
                </a:solidFill>
              </a:rPr>
              <a:t>new versions</a:t>
            </a:r>
            <a:r>
              <a:rPr lang="en-GB" dirty="0"/>
              <a:t>.</a:t>
            </a:r>
          </a:p>
          <a:p>
            <a:r>
              <a:rPr lang="en-GB" dirty="0"/>
              <a:t>Maintenance does not normally involve major changes to the system’s architecture</a:t>
            </a:r>
          </a:p>
          <a:p>
            <a:r>
              <a:rPr lang="en-GB" dirty="0"/>
              <a:t>Changes are implemented by modifying existing components &amp; adding new components to the system</a:t>
            </a:r>
          </a:p>
        </p:txBody>
      </p:sp>
      <p:sp>
        <p:nvSpPr>
          <p:cNvPr id="6" name="Slide Number Placeholder 5"/>
          <p:cNvSpPr>
            <a:spLocks noGrp="1"/>
          </p:cNvSpPr>
          <p:nvPr>
            <p:ph type="sldNum" sz="quarter" idx="12"/>
          </p:nvPr>
        </p:nvSpPr>
        <p:spPr/>
        <p:txBody>
          <a:bodyPr/>
          <a:lstStyle/>
          <a:p>
            <a:fld id="{C8735F24-F0A4-DB4E-AAD6-0E2C6B4C4636}" type="slidenum">
              <a:rPr lang="en-US" smtClean="0"/>
              <a:pPr/>
              <a:t>31</a:t>
            </a:fld>
            <a:endParaRPr lang="en-US"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title"/>
          </p:nvPr>
        </p:nvSpPr>
        <p:spPr>
          <a:noFill/>
          <a:ln/>
        </p:spPr>
        <p:txBody>
          <a:bodyPr lIns="90840" tIns="44623" rIns="90840" bIns="44623"/>
          <a:lstStyle/>
          <a:p>
            <a:r>
              <a:rPr lang="en-GB" sz="3200" dirty="0">
                <a:solidFill>
                  <a:srgbClr val="FF0000"/>
                </a:solidFill>
              </a:rPr>
              <a:t>Types of Maintenance</a:t>
            </a:r>
          </a:p>
        </p:txBody>
      </p:sp>
      <p:sp>
        <p:nvSpPr>
          <p:cNvPr id="12290" name="Rectangle 2"/>
          <p:cNvSpPr>
            <a:spLocks noGrp="1" noChangeArrowheads="1"/>
          </p:cNvSpPr>
          <p:nvPr>
            <p:ph idx="1"/>
          </p:nvPr>
        </p:nvSpPr>
        <p:spPr>
          <a:noFill/>
          <a:ln/>
        </p:spPr>
        <p:txBody>
          <a:bodyPr lIns="90840" tIns="44623" rIns="90840" bIns="44623"/>
          <a:lstStyle/>
          <a:p>
            <a:r>
              <a:rPr lang="en-GB" sz="2400" dirty="0">
                <a:solidFill>
                  <a:srgbClr val="009051"/>
                </a:solidFill>
              </a:rPr>
              <a:t>Fault repairs</a:t>
            </a:r>
          </a:p>
          <a:p>
            <a:pPr lvl="1"/>
            <a:r>
              <a:rPr lang="en-GB" sz="2000" dirty="0"/>
              <a:t>Changing a system to fix bugs/vulnerabilities &amp; correct deficiencies in the way meets its requirements</a:t>
            </a:r>
          </a:p>
          <a:p>
            <a:r>
              <a:rPr lang="en-GB" sz="2400" dirty="0">
                <a:solidFill>
                  <a:srgbClr val="009051"/>
                </a:solidFill>
              </a:rPr>
              <a:t>Environmental adaptation</a:t>
            </a:r>
          </a:p>
          <a:p>
            <a:pPr lvl="1"/>
            <a:r>
              <a:rPr lang="en-GB" sz="2000" dirty="0"/>
              <a:t>Maintenance to adapt software to a different operating environment</a:t>
            </a:r>
          </a:p>
          <a:p>
            <a:pPr lvl="1"/>
            <a:r>
              <a:rPr lang="en-GB" sz="2000" dirty="0"/>
              <a:t>Changing a system so that it operates in a different environment (e.g., computer &amp; OS) from its initial implementation</a:t>
            </a:r>
          </a:p>
          <a:p>
            <a:r>
              <a:rPr lang="en-GB" sz="2400" dirty="0">
                <a:solidFill>
                  <a:srgbClr val="009051"/>
                </a:solidFill>
              </a:rPr>
              <a:t>Functionality addition &amp; modification </a:t>
            </a:r>
          </a:p>
          <a:p>
            <a:pPr lvl="1"/>
            <a:r>
              <a:rPr lang="en-GB" dirty="0"/>
              <a:t>Modifying the system to satisfy new requirements</a:t>
            </a:r>
            <a:endParaRPr lang="en-GB" sz="1600" dirty="0"/>
          </a:p>
        </p:txBody>
      </p:sp>
      <p:sp>
        <p:nvSpPr>
          <p:cNvPr id="6" name="Slide Number Placeholder 5"/>
          <p:cNvSpPr>
            <a:spLocks noGrp="1"/>
          </p:cNvSpPr>
          <p:nvPr>
            <p:ph type="sldNum" sz="quarter" idx="12"/>
          </p:nvPr>
        </p:nvSpPr>
        <p:spPr/>
        <p:txBody>
          <a:bodyPr/>
          <a:lstStyle/>
          <a:p>
            <a:fld id="{C8735F24-F0A4-DB4E-AAD6-0E2C6B4C4636}" type="slidenum">
              <a:rPr lang="en-US" smtClean="0"/>
              <a:pPr/>
              <a:t>32</a:t>
            </a:fld>
            <a:endParaRPr 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Maintenance Effort Distribution</a:t>
            </a:r>
            <a:r>
              <a:rPr lang="en-GB" sz="3200" dirty="0">
                <a:solidFill>
                  <a:srgbClr val="FF0000"/>
                </a:solidFill>
              </a:rPr>
              <a:t> </a:t>
            </a:r>
            <a:endParaRPr lang="en-US" sz="3200" dirty="0">
              <a:solidFill>
                <a:srgbClr val="FF0000"/>
              </a:solidFill>
            </a:endParaRPr>
          </a:p>
        </p:txBody>
      </p:sp>
      <p:sp>
        <p:nvSpPr>
          <p:cNvPr id="7" name="Slide Number Placeholder 6"/>
          <p:cNvSpPr>
            <a:spLocks noGrp="1"/>
          </p:cNvSpPr>
          <p:nvPr>
            <p:ph type="sldNum" sz="quarter" idx="12"/>
          </p:nvPr>
        </p:nvSpPr>
        <p:spPr/>
        <p:txBody>
          <a:bodyPr/>
          <a:lstStyle/>
          <a:p>
            <a:fld id="{C8735F24-F0A4-DB4E-AAD6-0E2C6B4C4636}" type="slidenum">
              <a:rPr lang="en-US" smtClean="0"/>
              <a:pPr/>
              <a:t>33</a:t>
            </a:fld>
            <a:endParaRPr lang="en-US" dirty="0"/>
          </a:p>
        </p:txBody>
      </p:sp>
      <p:pic>
        <p:nvPicPr>
          <p:cNvPr id="5" name="Picture 4" descr="9.12 Maint Effor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4198" y="1871850"/>
            <a:ext cx="4061059" cy="4061059"/>
          </a:xfrm>
          <a:prstGeom prst="rect">
            <a:avLst/>
          </a:prstGeom>
        </p:spPr>
      </p:pic>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title"/>
          </p:nvPr>
        </p:nvSpPr>
        <p:spPr>
          <a:noFill/>
          <a:ln/>
        </p:spPr>
        <p:txBody>
          <a:bodyPr lIns="90840" tIns="44623" rIns="90840" bIns="44623"/>
          <a:lstStyle/>
          <a:p>
            <a:r>
              <a:rPr lang="en-GB" sz="3200" dirty="0">
                <a:solidFill>
                  <a:srgbClr val="FF0000"/>
                </a:solidFill>
              </a:rPr>
              <a:t>Maintenance Costs</a:t>
            </a:r>
          </a:p>
        </p:txBody>
      </p:sp>
      <p:sp>
        <p:nvSpPr>
          <p:cNvPr id="30722" name="Rectangle 2"/>
          <p:cNvSpPr>
            <a:spLocks noGrp="1" noChangeArrowheads="1"/>
          </p:cNvSpPr>
          <p:nvPr>
            <p:ph idx="1"/>
          </p:nvPr>
        </p:nvSpPr>
        <p:spPr>
          <a:noFill/>
          <a:ln/>
        </p:spPr>
        <p:txBody>
          <a:bodyPr lIns="90840" tIns="44623" rIns="90840" bIns="44623"/>
          <a:lstStyle/>
          <a:p>
            <a:r>
              <a:rPr lang="en-GB" sz="2400" dirty="0"/>
              <a:t>Usually greater than development costs</a:t>
            </a:r>
          </a:p>
          <a:p>
            <a:r>
              <a:rPr lang="en-GB" sz="2400" dirty="0"/>
              <a:t>Affected by both technical &amp; non-technical factors</a:t>
            </a:r>
          </a:p>
          <a:p>
            <a:r>
              <a:rPr lang="en-GB" sz="2400" dirty="0"/>
              <a:t>Increases as software is maintained.</a:t>
            </a:r>
          </a:p>
          <a:p>
            <a:r>
              <a:rPr lang="en-GB" sz="2400" dirty="0"/>
              <a:t>Maintenance corrupts the software structure so makes further maintenance more difficult.</a:t>
            </a:r>
          </a:p>
          <a:p>
            <a:r>
              <a:rPr lang="en-GB" sz="2400" dirty="0"/>
              <a:t>Aging software can have high support costs (e.g., old languages &amp; compilers)</a:t>
            </a:r>
          </a:p>
        </p:txBody>
      </p:sp>
      <p:sp>
        <p:nvSpPr>
          <p:cNvPr id="6" name="Slide Number Placeholder 5"/>
          <p:cNvSpPr>
            <a:spLocks noGrp="1"/>
          </p:cNvSpPr>
          <p:nvPr>
            <p:ph type="sldNum" sz="quarter" idx="12"/>
          </p:nvPr>
        </p:nvSpPr>
        <p:spPr/>
        <p:txBody>
          <a:bodyPr/>
          <a:lstStyle/>
          <a:p>
            <a:fld id="{C8735F24-F0A4-DB4E-AAD6-0E2C6B4C4636}" type="slidenum">
              <a:rPr lang="en-US" smtClean="0"/>
              <a:pPr/>
              <a:t>34</a:t>
            </a:fld>
            <a:endParaRPr 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 Maintenance Costs</a:t>
            </a:r>
          </a:p>
        </p:txBody>
      </p:sp>
      <p:sp>
        <p:nvSpPr>
          <p:cNvPr id="3" name="Content Placeholder 2"/>
          <p:cNvSpPr>
            <a:spLocks noGrp="1"/>
          </p:cNvSpPr>
          <p:nvPr>
            <p:ph idx="1"/>
          </p:nvPr>
        </p:nvSpPr>
        <p:spPr>
          <a:xfrm>
            <a:off x="457200" y="1417638"/>
            <a:ext cx="8229600" cy="4525963"/>
          </a:xfrm>
        </p:spPr>
        <p:txBody>
          <a:bodyPr/>
          <a:lstStyle/>
          <a:p>
            <a:r>
              <a:rPr lang="en-US" dirty="0"/>
              <a:t>It is usually more expensive to add new features to a system during maintenance than it is to add the same features during development</a:t>
            </a:r>
          </a:p>
          <a:p>
            <a:pPr lvl="1"/>
            <a:r>
              <a:rPr lang="en-US" dirty="0"/>
              <a:t>A new team has to understand the programs being maintained</a:t>
            </a:r>
          </a:p>
          <a:p>
            <a:pPr lvl="1"/>
            <a:r>
              <a:rPr lang="en-US" dirty="0"/>
              <a:t>Separating maintenance &amp; development means there is no incentive for the development team to write maintainable software</a:t>
            </a:r>
            <a:r>
              <a:rPr lang="en-GB" dirty="0"/>
              <a:t> </a:t>
            </a:r>
          </a:p>
          <a:p>
            <a:pPr lvl="1"/>
            <a:r>
              <a:rPr lang="en-US" dirty="0"/>
              <a:t>Program maintenance work is unpopular</a:t>
            </a:r>
            <a:r>
              <a:rPr lang="en-GB" dirty="0"/>
              <a:t> </a:t>
            </a:r>
          </a:p>
          <a:p>
            <a:pPr lvl="2"/>
            <a:r>
              <a:rPr lang="en-GB" dirty="0"/>
              <a:t>Maintenance staff are often inexperienced &amp; have limited domain knowledge</a:t>
            </a:r>
          </a:p>
          <a:p>
            <a:pPr lvl="1"/>
            <a:r>
              <a:rPr lang="en-US" dirty="0"/>
              <a:t>As programs age, their structure degrades &amp; they become harder to change</a:t>
            </a:r>
            <a:r>
              <a:rPr lang="en-GB" dirty="0"/>
              <a:t> </a:t>
            </a:r>
            <a:endParaRPr lang="en-US" dirty="0"/>
          </a:p>
        </p:txBody>
      </p:sp>
      <p:sp>
        <p:nvSpPr>
          <p:cNvPr id="5" name="Slide Number Placeholder 4"/>
          <p:cNvSpPr>
            <a:spLocks noGrp="1"/>
          </p:cNvSpPr>
          <p:nvPr>
            <p:ph type="sldNum" sz="quarter" idx="12"/>
          </p:nvPr>
        </p:nvSpPr>
        <p:spPr/>
        <p:txBody>
          <a:bodyPr/>
          <a:lstStyle/>
          <a:p>
            <a:fld id="{C8735F24-F0A4-DB4E-AAD6-0E2C6B4C4636}" type="slidenum">
              <a:rPr lang="en-US" smtClean="0"/>
              <a:pPr/>
              <a:t>35</a:t>
            </a:fld>
            <a:endParaRPr lang="en-US" dirty="0"/>
          </a:p>
        </p:txBody>
      </p:sp>
    </p:spTree>
    <p:extLst>
      <p:ext uri="{BB962C8B-B14F-4D97-AF65-F5344CB8AC3E}">
        <p14:creationId xmlns:p14="http://schemas.microsoft.com/office/powerpoint/2010/main" val="612949584"/>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342107"/>
            <a:ext cx="7293232" cy="1143000"/>
          </a:xfrm>
        </p:spPr>
        <p:txBody>
          <a:bodyPr/>
          <a:lstStyle/>
          <a:p>
            <a:r>
              <a:rPr lang="en-GB" sz="3200" dirty="0">
                <a:solidFill>
                  <a:srgbClr val="FF0000"/>
                </a:solidFill>
              </a:rPr>
              <a:t>Maintenance Prediction</a:t>
            </a:r>
          </a:p>
        </p:txBody>
      </p:sp>
      <p:sp>
        <p:nvSpPr>
          <p:cNvPr id="73731" name="Rectangle 3"/>
          <p:cNvSpPr>
            <a:spLocks noGrp="1" noChangeArrowheads="1"/>
          </p:cNvSpPr>
          <p:nvPr>
            <p:ph idx="1"/>
          </p:nvPr>
        </p:nvSpPr>
        <p:spPr/>
        <p:txBody>
          <a:bodyPr/>
          <a:lstStyle/>
          <a:p>
            <a:r>
              <a:rPr lang="en-GB" sz="2400" dirty="0"/>
              <a:t>Maintenance prediction is concerned with assessing which parts of the system may cause problems &amp; have high maintenance costs</a:t>
            </a:r>
          </a:p>
          <a:p>
            <a:pPr lvl="1"/>
            <a:r>
              <a:rPr lang="en-GB" sz="2000" dirty="0"/>
              <a:t>Change acceptance depends on the maintainability of the components affected by the change</a:t>
            </a:r>
          </a:p>
          <a:p>
            <a:pPr lvl="1"/>
            <a:r>
              <a:rPr lang="en-GB" sz="2000" dirty="0"/>
              <a:t>Implementing changes degrades the system &amp; reduces its maintainability</a:t>
            </a:r>
          </a:p>
          <a:p>
            <a:pPr lvl="1"/>
            <a:r>
              <a:rPr lang="en-GB" sz="2000" dirty="0"/>
              <a:t>Maintenance costs depend on the number of changes &amp; costs of change depend on maintainability</a:t>
            </a:r>
          </a:p>
        </p:txBody>
      </p:sp>
      <p:sp>
        <p:nvSpPr>
          <p:cNvPr id="6" name="Slide Number Placeholder 5"/>
          <p:cNvSpPr>
            <a:spLocks noGrp="1"/>
          </p:cNvSpPr>
          <p:nvPr>
            <p:ph type="sldNum" sz="quarter" idx="12"/>
          </p:nvPr>
        </p:nvSpPr>
        <p:spPr/>
        <p:txBody>
          <a:bodyPr/>
          <a:lstStyle/>
          <a:p>
            <a:fld id="{C8735F24-F0A4-DB4E-AAD6-0E2C6B4C4636}" type="slidenum">
              <a:rPr lang="en-US" smtClean="0"/>
              <a:pPr/>
              <a:t>36</a:t>
            </a:fld>
            <a:endParaRPr lang="en-US" dirty="0"/>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 Maintenance Prediction</a:t>
            </a:r>
            <a:r>
              <a:rPr lang="en-GB" sz="3200" dirty="0">
                <a:solidFill>
                  <a:srgbClr val="FF0000"/>
                </a:solidFill>
              </a:rPr>
              <a:t> </a:t>
            </a:r>
            <a:endParaRPr lang="en-US" sz="3200" dirty="0">
              <a:solidFill>
                <a:srgbClr val="FF0000"/>
              </a:solidFill>
            </a:endParaRPr>
          </a:p>
        </p:txBody>
      </p:sp>
      <p:sp>
        <p:nvSpPr>
          <p:cNvPr id="7" name="Slide Number Placeholder 6"/>
          <p:cNvSpPr>
            <a:spLocks noGrp="1"/>
          </p:cNvSpPr>
          <p:nvPr>
            <p:ph type="sldNum" sz="quarter" idx="12"/>
          </p:nvPr>
        </p:nvSpPr>
        <p:spPr/>
        <p:txBody>
          <a:bodyPr/>
          <a:lstStyle/>
          <a:p>
            <a:fld id="{C8735F24-F0A4-DB4E-AAD6-0E2C6B4C4636}" type="slidenum">
              <a:rPr lang="en-US" smtClean="0"/>
              <a:pPr/>
              <a:t>37</a:t>
            </a:fld>
            <a:endParaRPr lang="en-US" dirty="0"/>
          </a:p>
        </p:txBody>
      </p:sp>
      <p:pic>
        <p:nvPicPr>
          <p:cNvPr id="5" name="Picture 4" descr="9.13 Maint Predict (9.10).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054" y="2000237"/>
            <a:ext cx="7963315" cy="3942039"/>
          </a:xfrm>
          <a:prstGeom prst="rect">
            <a:avLst/>
          </a:prstGeom>
        </p:spPr>
      </p:pic>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GB" sz="3200" dirty="0">
                <a:solidFill>
                  <a:srgbClr val="FF0000"/>
                </a:solidFill>
              </a:rPr>
              <a:t>Complexity Metrics</a:t>
            </a:r>
          </a:p>
        </p:txBody>
      </p:sp>
      <p:sp>
        <p:nvSpPr>
          <p:cNvPr id="75779" name="Rectangle 3"/>
          <p:cNvSpPr>
            <a:spLocks noGrp="1" noChangeArrowheads="1"/>
          </p:cNvSpPr>
          <p:nvPr>
            <p:ph idx="1"/>
          </p:nvPr>
        </p:nvSpPr>
        <p:spPr>
          <a:xfrm>
            <a:off x="457200" y="1479177"/>
            <a:ext cx="8229600" cy="4525963"/>
          </a:xfrm>
        </p:spPr>
        <p:txBody>
          <a:bodyPr/>
          <a:lstStyle/>
          <a:p>
            <a:r>
              <a:rPr lang="en-GB" sz="2400" dirty="0"/>
              <a:t>Predictions of maintainability can be made by assessing the complexity of system components</a:t>
            </a:r>
          </a:p>
          <a:p>
            <a:r>
              <a:rPr lang="en-GB" sz="2400" dirty="0"/>
              <a:t>Studies have shown that most maintenance effort is spent on a relatively small number of system components</a:t>
            </a:r>
          </a:p>
          <a:p>
            <a:r>
              <a:rPr lang="en-GB" sz="2400" dirty="0"/>
              <a:t>Complexity depends on:</a:t>
            </a:r>
          </a:p>
          <a:p>
            <a:pPr lvl="1"/>
            <a:r>
              <a:rPr lang="en-GB" sz="2000" dirty="0"/>
              <a:t>Complexity of control structures</a:t>
            </a:r>
          </a:p>
          <a:p>
            <a:pPr lvl="1"/>
            <a:r>
              <a:rPr lang="en-GB" sz="2000" dirty="0"/>
              <a:t>Complexity of data structures</a:t>
            </a:r>
          </a:p>
          <a:p>
            <a:pPr lvl="1"/>
            <a:r>
              <a:rPr lang="en-GB" sz="2000" dirty="0"/>
              <a:t>Object, method (procedure) &amp; module size</a:t>
            </a:r>
          </a:p>
        </p:txBody>
      </p:sp>
      <p:sp>
        <p:nvSpPr>
          <p:cNvPr id="6" name="Slide Number Placeholder 5"/>
          <p:cNvSpPr>
            <a:spLocks noGrp="1"/>
          </p:cNvSpPr>
          <p:nvPr>
            <p:ph type="sldNum" sz="quarter" idx="12"/>
          </p:nvPr>
        </p:nvSpPr>
        <p:spPr/>
        <p:txBody>
          <a:bodyPr/>
          <a:lstStyle/>
          <a:p>
            <a:fld id="{C8735F24-F0A4-DB4E-AAD6-0E2C6B4C4636}" type="slidenum">
              <a:rPr lang="en-US" smtClean="0"/>
              <a:pPr/>
              <a:t>38</a:t>
            </a:fld>
            <a:endParaRPr lang="en-US" dirty="0"/>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a:ln/>
        </p:spPr>
        <p:txBody>
          <a:bodyPr lIns="90840" tIns="44623" rIns="90840" bIns="44623"/>
          <a:lstStyle/>
          <a:p>
            <a:r>
              <a:rPr lang="en-GB" sz="3200" dirty="0">
                <a:solidFill>
                  <a:srgbClr val="FF0000"/>
                </a:solidFill>
              </a:rPr>
              <a:t>Process Metrics</a:t>
            </a:r>
          </a:p>
        </p:txBody>
      </p:sp>
      <p:sp>
        <p:nvSpPr>
          <p:cNvPr id="50179" name="Rectangle 3"/>
          <p:cNvSpPr>
            <a:spLocks noGrp="1" noChangeArrowheads="1"/>
          </p:cNvSpPr>
          <p:nvPr>
            <p:ph idx="1"/>
          </p:nvPr>
        </p:nvSpPr>
        <p:spPr>
          <a:xfrm>
            <a:off x="457200" y="1519518"/>
            <a:ext cx="8229600" cy="4525963"/>
          </a:xfrm>
          <a:noFill/>
          <a:ln/>
        </p:spPr>
        <p:txBody>
          <a:bodyPr lIns="90840" tIns="44623" rIns="90840" bIns="44623"/>
          <a:lstStyle/>
          <a:p>
            <a:r>
              <a:rPr lang="en-GB" dirty="0"/>
              <a:t>Process metrics may be used to assess maintainability</a:t>
            </a:r>
          </a:p>
          <a:p>
            <a:pPr lvl="1"/>
            <a:r>
              <a:rPr lang="en-GB" dirty="0"/>
              <a:t>Number of requests for corrective maintenance</a:t>
            </a:r>
          </a:p>
          <a:p>
            <a:pPr lvl="1"/>
            <a:r>
              <a:rPr lang="en-GB" dirty="0"/>
              <a:t>Average time required for impact analysis</a:t>
            </a:r>
          </a:p>
          <a:p>
            <a:pPr lvl="1"/>
            <a:r>
              <a:rPr lang="en-GB" dirty="0"/>
              <a:t>Average time taken to implement a change request</a:t>
            </a:r>
          </a:p>
          <a:p>
            <a:pPr lvl="1"/>
            <a:r>
              <a:rPr lang="en-GB" dirty="0"/>
              <a:t>Number of outstanding change requests</a:t>
            </a:r>
          </a:p>
          <a:p>
            <a:r>
              <a:rPr lang="en-GB" dirty="0"/>
              <a:t>If any or all of these is increasing, this may indicate a decline in maintainability</a:t>
            </a:r>
          </a:p>
        </p:txBody>
      </p:sp>
      <p:sp>
        <p:nvSpPr>
          <p:cNvPr id="6" name="Slide Number Placeholder 5"/>
          <p:cNvSpPr>
            <a:spLocks noGrp="1"/>
          </p:cNvSpPr>
          <p:nvPr>
            <p:ph type="sldNum" sz="quarter" idx="12"/>
          </p:nvPr>
        </p:nvSpPr>
        <p:spPr/>
        <p:txBody>
          <a:bodyPr/>
          <a:lstStyle/>
          <a:p>
            <a:fld id="{C8735F24-F0A4-DB4E-AAD6-0E2C6B4C4636}" type="slidenum">
              <a:rPr lang="en-US" smtClean="0"/>
              <a:pPr/>
              <a:t>39</a:t>
            </a:fld>
            <a:endParaRPr 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Refactoring</a:t>
            </a:r>
          </a:p>
        </p:txBody>
      </p:sp>
      <p:sp>
        <p:nvSpPr>
          <p:cNvPr id="3" name="Content Placeholder 2"/>
          <p:cNvSpPr>
            <a:spLocks noGrp="1"/>
          </p:cNvSpPr>
          <p:nvPr>
            <p:ph idx="1"/>
          </p:nvPr>
        </p:nvSpPr>
        <p:spPr>
          <a:xfrm>
            <a:off x="457200" y="1539688"/>
            <a:ext cx="8229600" cy="4525963"/>
          </a:xfrm>
        </p:spPr>
        <p:txBody>
          <a:bodyPr/>
          <a:lstStyle/>
          <a:p>
            <a:r>
              <a:rPr lang="en-US" dirty="0"/>
              <a:t>Refactoring is the process of making improvements to a program to slow down degradation through change</a:t>
            </a:r>
          </a:p>
          <a:p>
            <a:r>
              <a:rPr lang="en-US" dirty="0"/>
              <a:t>You can think of refactoring as “preventative maintenance” that reduces the problems of future change </a:t>
            </a:r>
          </a:p>
          <a:p>
            <a:r>
              <a:rPr lang="en-US" dirty="0"/>
              <a:t>Refactoring involves modifying a program to improve its structure, reduce its complexity or make it easier to understand </a:t>
            </a:r>
          </a:p>
          <a:p>
            <a:r>
              <a:rPr lang="en-US" dirty="0"/>
              <a:t>When you refactor a program, you </a:t>
            </a:r>
            <a:r>
              <a:rPr lang="en-US" dirty="0">
                <a:solidFill>
                  <a:srgbClr val="009051"/>
                </a:solidFill>
              </a:rPr>
              <a:t>should not add functionality</a:t>
            </a:r>
            <a:r>
              <a:rPr lang="en-US" dirty="0"/>
              <a:t> but rather concentrate on program improvement </a:t>
            </a:r>
          </a:p>
        </p:txBody>
      </p:sp>
      <p:sp>
        <p:nvSpPr>
          <p:cNvPr id="6" name="Slide Number Placeholder 5"/>
          <p:cNvSpPr>
            <a:spLocks noGrp="1"/>
          </p:cNvSpPr>
          <p:nvPr>
            <p:ph type="sldNum" sz="quarter" idx="12"/>
          </p:nvPr>
        </p:nvSpPr>
        <p:spPr/>
        <p:txBody>
          <a:bodyPr/>
          <a:lstStyle/>
          <a:p>
            <a:fld id="{C8735F24-F0A4-DB4E-AAD6-0E2C6B4C4636}" type="slidenum">
              <a:rPr lang="en-US" smtClean="0"/>
              <a:pPr/>
              <a:t>40</a:t>
            </a:fld>
            <a:endParaRPr lang="en-US" dirty="0"/>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“Bad Smells” in Program Code</a:t>
            </a:r>
          </a:p>
        </p:txBody>
      </p:sp>
      <p:sp>
        <p:nvSpPr>
          <p:cNvPr id="3" name="Content Placeholder 2"/>
          <p:cNvSpPr>
            <a:spLocks noGrp="1"/>
          </p:cNvSpPr>
          <p:nvPr>
            <p:ph idx="1"/>
          </p:nvPr>
        </p:nvSpPr>
        <p:spPr>
          <a:xfrm>
            <a:off x="457200" y="1526241"/>
            <a:ext cx="8229600" cy="4525963"/>
          </a:xfrm>
        </p:spPr>
        <p:txBody>
          <a:bodyPr/>
          <a:lstStyle/>
          <a:p>
            <a:r>
              <a:rPr lang="en-US" dirty="0">
                <a:solidFill>
                  <a:srgbClr val="009051"/>
                </a:solidFill>
              </a:rPr>
              <a:t>Duplicate code </a:t>
            </a:r>
          </a:p>
          <a:p>
            <a:pPr lvl="1"/>
            <a:r>
              <a:rPr lang="en-US" dirty="0"/>
              <a:t>The same or very similar code may be included at different places in a program. This can be removed &amp; implemented as a single method or function that is called as required.</a:t>
            </a:r>
            <a:endParaRPr lang="en-GB" dirty="0"/>
          </a:p>
          <a:p>
            <a:r>
              <a:rPr lang="en-US" dirty="0">
                <a:solidFill>
                  <a:srgbClr val="009051"/>
                </a:solidFill>
              </a:rPr>
              <a:t>Long methods</a:t>
            </a:r>
          </a:p>
          <a:p>
            <a:pPr lvl="1"/>
            <a:r>
              <a:rPr lang="en-US" dirty="0"/>
              <a:t> If a method is too long, it should be redesigned as a number of shorter methods</a:t>
            </a:r>
            <a:endParaRPr lang="en-GB" dirty="0"/>
          </a:p>
          <a:p>
            <a:r>
              <a:rPr lang="en-US" dirty="0">
                <a:solidFill>
                  <a:srgbClr val="009051"/>
                </a:solidFill>
              </a:rPr>
              <a:t>Switch (case) statements </a:t>
            </a:r>
          </a:p>
          <a:p>
            <a:pPr lvl="1"/>
            <a:r>
              <a:rPr lang="en-US" dirty="0"/>
              <a:t>These often involve duplication, where the switch depends on the type of a value. The switch statements may be scattered around a program. In object-oriented languages, you can often use polymorphism to achieve the same thing.</a:t>
            </a:r>
            <a:endParaRPr lang="en-GB" dirty="0"/>
          </a:p>
        </p:txBody>
      </p:sp>
      <p:sp>
        <p:nvSpPr>
          <p:cNvPr id="6" name="Slide Number Placeholder 5"/>
          <p:cNvSpPr>
            <a:spLocks noGrp="1"/>
          </p:cNvSpPr>
          <p:nvPr>
            <p:ph type="sldNum" sz="quarter" idx="12"/>
          </p:nvPr>
        </p:nvSpPr>
        <p:spPr/>
        <p:txBody>
          <a:bodyPr/>
          <a:lstStyle/>
          <a:p>
            <a:fld id="{C8735F24-F0A4-DB4E-AAD6-0E2C6B4C4636}" type="slidenum">
              <a:rPr lang="en-US" smtClean="0"/>
              <a:pPr/>
              <a:t>41</a:t>
            </a:fld>
            <a:endParaRPr lang="en-US" dirty="0"/>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 “Bad Smells” in Program Code</a:t>
            </a:r>
          </a:p>
        </p:txBody>
      </p:sp>
      <p:sp>
        <p:nvSpPr>
          <p:cNvPr id="3" name="Content Placeholder 2"/>
          <p:cNvSpPr>
            <a:spLocks noGrp="1"/>
          </p:cNvSpPr>
          <p:nvPr>
            <p:ph idx="1"/>
          </p:nvPr>
        </p:nvSpPr>
        <p:spPr/>
        <p:txBody>
          <a:bodyPr/>
          <a:lstStyle/>
          <a:p>
            <a:r>
              <a:rPr lang="en-US" dirty="0">
                <a:solidFill>
                  <a:srgbClr val="009051"/>
                </a:solidFill>
              </a:rPr>
              <a:t>Data clumping </a:t>
            </a:r>
          </a:p>
          <a:p>
            <a:pPr lvl="1"/>
            <a:r>
              <a:rPr lang="en-US" dirty="0"/>
              <a:t>Data clumps occur when the same group of data items (fields in classes, parameters in methods) re-occur in several places in a program. These can often be replaced with an object that encapsulates all these data.</a:t>
            </a:r>
            <a:endParaRPr lang="en-GB" dirty="0"/>
          </a:p>
          <a:p>
            <a:r>
              <a:rPr lang="en-US" dirty="0">
                <a:solidFill>
                  <a:srgbClr val="009051"/>
                </a:solidFill>
              </a:rPr>
              <a:t>Speculative generality </a:t>
            </a:r>
          </a:p>
          <a:p>
            <a:pPr lvl="1"/>
            <a:r>
              <a:rPr lang="en-US" dirty="0"/>
              <a:t>This occurs when developers include generality in a program in case it is required in the future. This can often simply be removed.</a:t>
            </a:r>
            <a:r>
              <a:rPr lang="en-GB" dirty="0"/>
              <a:t> </a:t>
            </a:r>
            <a:endParaRPr lang="en-US" dirty="0"/>
          </a:p>
          <a:p>
            <a:endParaRPr lang="en-US" dirty="0"/>
          </a:p>
        </p:txBody>
      </p:sp>
      <p:sp>
        <p:nvSpPr>
          <p:cNvPr id="6" name="Slide Number Placeholder 5"/>
          <p:cNvSpPr>
            <a:spLocks noGrp="1"/>
          </p:cNvSpPr>
          <p:nvPr>
            <p:ph type="sldNum" sz="quarter" idx="12"/>
          </p:nvPr>
        </p:nvSpPr>
        <p:spPr/>
        <p:txBody>
          <a:bodyPr/>
          <a:lstStyle/>
          <a:p>
            <a:fld id="{C8735F24-F0A4-DB4E-AAD6-0E2C6B4C4636}" type="slidenum">
              <a:rPr lang="en-US" smtClean="0"/>
              <a:pPr/>
              <a:t>42</a:t>
            </a:fld>
            <a:endParaRPr lang="en-US" dirty="0"/>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Key Points</a:t>
            </a:r>
          </a:p>
        </p:txBody>
      </p:sp>
      <p:sp>
        <p:nvSpPr>
          <p:cNvPr id="3" name="Content Placeholder 2"/>
          <p:cNvSpPr>
            <a:spLocks noGrp="1"/>
          </p:cNvSpPr>
          <p:nvPr>
            <p:ph idx="1"/>
          </p:nvPr>
        </p:nvSpPr>
        <p:spPr/>
        <p:txBody>
          <a:bodyPr/>
          <a:lstStyle/>
          <a:p>
            <a:r>
              <a:rPr lang="en-US" dirty="0"/>
              <a:t>Software development &amp; evolution can be thought of as an integrated, iterative process that can be represented using a spiral model</a:t>
            </a:r>
            <a:endParaRPr lang="en-GB" dirty="0"/>
          </a:p>
          <a:p>
            <a:r>
              <a:rPr lang="en-US" dirty="0"/>
              <a:t>For custom systems, the costs of software maintenance usually exceed the software development costs</a:t>
            </a:r>
            <a:endParaRPr lang="en-GB" dirty="0"/>
          </a:p>
          <a:p>
            <a:r>
              <a:rPr lang="en-US" dirty="0"/>
              <a:t>The process of software evolution is driven by requests for changes &amp; includes change impact analysis, release planning &amp; change implementation </a:t>
            </a:r>
          </a:p>
          <a:p>
            <a:r>
              <a:rPr lang="en-US" dirty="0"/>
              <a:t>Legacy systems are older software systems, developed using obsolete software &amp; hardware technologies, that remain useful for a business</a:t>
            </a:r>
            <a:r>
              <a:rPr lang="en-GB" dirty="0"/>
              <a:t> </a:t>
            </a:r>
          </a:p>
          <a:p>
            <a:endParaRPr lang="en-US" dirty="0"/>
          </a:p>
        </p:txBody>
      </p:sp>
      <p:sp>
        <p:nvSpPr>
          <p:cNvPr id="6" name="Slide Number Placeholder 5"/>
          <p:cNvSpPr>
            <a:spLocks noGrp="1"/>
          </p:cNvSpPr>
          <p:nvPr>
            <p:ph type="sldNum" sz="quarter" idx="12"/>
          </p:nvPr>
        </p:nvSpPr>
        <p:spPr/>
        <p:txBody>
          <a:bodyPr/>
          <a:lstStyle/>
          <a:p>
            <a:fld id="{C8735F24-F0A4-DB4E-AAD6-0E2C6B4C4636}" type="slidenum">
              <a:rPr lang="en-US" smtClean="0"/>
              <a:pPr/>
              <a:t>43</a:t>
            </a:fld>
            <a:endParaRPr lang="en-US" dirty="0"/>
          </a:p>
        </p:txBody>
      </p:sp>
    </p:spTree>
    <p:extLst>
      <p:ext uri="{BB962C8B-B14F-4D97-AF65-F5344CB8AC3E}">
        <p14:creationId xmlns:p14="http://schemas.microsoft.com/office/powerpoint/2010/main" val="410587348"/>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 Key Points</a:t>
            </a:r>
          </a:p>
        </p:txBody>
      </p:sp>
      <p:sp>
        <p:nvSpPr>
          <p:cNvPr id="3" name="Content Placeholder 2"/>
          <p:cNvSpPr>
            <a:spLocks noGrp="1"/>
          </p:cNvSpPr>
          <p:nvPr>
            <p:ph idx="1"/>
          </p:nvPr>
        </p:nvSpPr>
        <p:spPr/>
        <p:txBody>
          <a:bodyPr/>
          <a:lstStyle/>
          <a:p>
            <a:r>
              <a:rPr lang="en-US" dirty="0"/>
              <a:t>It is often cheaper &amp; less risky to maintain a legacy system than to develop a replacement system using modern technology</a:t>
            </a:r>
            <a:endParaRPr lang="en-GB" dirty="0"/>
          </a:p>
          <a:p>
            <a:r>
              <a:rPr lang="en-US" dirty="0"/>
              <a:t>The business value of a legacy system &amp; the quality of the application should be assessed to help decide if a system should be replaced, transformed or maintained</a:t>
            </a:r>
            <a:r>
              <a:rPr lang="en-GB" dirty="0"/>
              <a:t> </a:t>
            </a:r>
            <a:endParaRPr lang="en-US" dirty="0"/>
          </a:p>
          <a:p>
            <a:r>
              <a:rPr lang="en-US" dirty="0"/>
              <a:t>There are 3 types of software maintenance, namely bug fixing, modifying software to work in a new environment, &amp; implementing new or changed requirements</a:t>
            </a:r>
            <a:endParaRPr lang="en-GB" dirty="0"/>
          </a:p>
        </p:txBody>
      </p:sp>
      <p:sp>
        <p:nvSpPr>
          <p:cNvPr id="6" name="Slide Number Placeholder 5"/>
          <p:cNvSpPr>
            <a:spLocks noGrp="1"/>
          </p:cNvSpPr>
          <p:nvPr>
            <p:ph type="sldNum" sz="quarter" idx="12"/>
          </p:nvPr>
        </p:nvSpPr>
        <p:spPr/>
        <p:txBody>
          <a:bodyPr/>
          <a:lstStyle/>
          <a:p>
            <a:fld id="{C8735F24-F0A4-DB4E-AAD6-0E2C6B4C4636}" type="slidenum">
              <a:rPr lang="en-US" smtClean="0"/>
              <a:pPr/>
              <a:t>44</a:t>
            </a:fld>
            <a:endParaRPr lang="en-US" dirty="0"/>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 Key Points</a:t>
            </a:r>
          </a:p>
        </p:txBody>
      </p:sp>
      <p:sp>
        <p:nvSpPr>
          <p:cNvPr id="3" name="Content Placeholder 2"/>
          <p:cNvSpPr>
            <a:spLocks noGrp="1"/>
          </p:cNvSpPr>
          <p:nvPr>
            <p:ph idx="1"/>
          </p:nvPr>
        </p:nvSpPr>
        <p:spPr/>
        <p:txBody>
          <a:bodyPr/>
          <a:lstStyle/>
          <a:p>
            <a:r>
              <a:rPr lang="en-US" dirty="0"/>
              <a:t>Refactoring, making program changes that preserve functionality, is a form of preventative maintenance</a:t>
            </a:r>
            <a:endParaRPr lang="en-GB" dirty="0"/>
          </a:p>
        </p:txBody>
      </p:sp>
      <p:sp>
        <p:nvSpPr>
          <p:cNvPr id="5" name="Slide Number Placeholder 4"/>
          <p:cNvSpPr>
            <a:spLocks noGrp="1"/>
          </p:cNvSpPr>
          <p:nvPr>
            <p:ph type="sldNum" sz="quarter" idx="12"/>
          </p:nvPr>
        </p:nvSpPr>
        <p:spPr/>
        <p:txBody>
          <a:bodyPr/>
          <a:lstStyle/>
          <a:p>
            <a:fld id="{C8735F24-F0A4-DB4E-AAD6-0E2C6B4C4636}" type="slidenum">
              <a:rPr lang="en-US" smtClean="0"/>
              <a:pPr/>
              <a:t>45</a:t>
            </a:fld>
            <a:endParaRPr lang="en-US" dirty="0"/>
          </a:p>
        </p:txBody>
      </p:sp>
    </p:spTree>
    <p:extLst>
      <p:ext uri="{BB962C8B-B14F-4D97-AF65-F5344CB8AC3E}">
        <p14:creationId xmlns:p14="http://schemas.microsoft.com/office/powerpoint/2010/main" val="593381939"/>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E58E45-33D8-46F5-ADC8-C91429F1B266}"/>
              </a:ext>
            </a:extLst>
          </p:cNvPr>
          <p:cNvSpPr>
            <a:spLocks noGrp="1"/>
          </p:cNvSpPr>
          <p:nvPr>
            <p:ph type="sldNum" sz="quarter" idx="12"/>
          </p:nvPr>
        </p:nvSpPr>
        <p:spPr/>
        <p:txBody>
          <a:bodyPr/>
          <a:lstStyle/>
          <a:p>
            <a:fld id="{C8735F24-F0A4-DB4E-AAD6-0E2C6B4C4636}" type="slidenum">
              <a:rPr lang="en-US" smtClean="0"/>
              <a:pPr/>
              <a:t>46</a:t>
            </a:fld>
            <a:endParaRPr lang="en-US" dirty="0"/>
          </a:p>
        </p:txBody>
      </p:sp>
      <p:sp>
        <p:nvSpPr>
          <p:cNvPr id="5" name="TextBox 4">
            <a:extLst>
              <a:ext uri="{FF2B5EF4-FFF2-40B4-BE49-F238E27FC236}">
                <a16:creationId xmlns:a16="http://schemas.microsoft.com/office/drawing/2014/main" id="{5B43E500-D7EE-1C3D-7808-DBBAF1955D8A}"/>
              </a:ext>
            </a:extLst>
          </p:cNvPr>
          <p:cNvSpPr txBox="1"/>
          <p:nvPr/>
        </p:nvSpPr>
        <p:spPr>
          <a:xfrm>
            <a:off x="2286000" y="3198168"/>
            <a:ext cx="4572000" cy="830997"/>
          </a:xfrm>
          <a:prstGeom prst="rect">
            <a:avLst/>
          </a:prstGeom>
          <a:noFill/>
        </p:spPr>
        <p:txBody>
          <a:bodyPr wrap="square">
            <a:spAutoFit/>
          </a:bodyPr>
          <a:lstStyle/>
          <a:p>
            <a:pPr algn="ctr"/>
            <a:r>
              <a:rPr lang="en-US" sz="4800" b="1" dirty="0">
                <a:solidFill>
                  <a:srgbClr val="FF0000"/>
                </a:solidFill>
                <a:latin typeface="Arial" panose="020B0604020202020204" pitchFamily="34" charset="0"/>
                <a:cs typeface="Arial" panose="020B0604020202020204" pitchFamily="34" charset="0"/>
              </a:rPr>
              <a:t>* * *  End  ***</a:t>
            </a:r>
          </a:p>
        </p:txBody>
      </p:sp>
    </p:spTree>
    <p:extLst>
      <p:ext uri="{BB962C8B-B14F-4D97-AF65-F5344CB8AC3E}">
        <p14:creationId xmlns:p14="http://schemas.microsoft.com/office/powerpoint/2010/main" val="2176495587"/>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590540ad-24f6-4603-bebb-fc2239ec787a}" enabled="1" method="Privileged" siteId="{fdade0c4-3fea-4320-ae53-1a1742aeff1e}" removed="0"/>
</clbl:labelList>
</file>

<file path=docProps/app.xml><?xml version="1.0" encoding="utf-8"?>
<Properties xmlns="http://schemas.openxmlformats.org/officeDocument/2006/extended-properties" xmlns:vt="http://schemas.openxmlformats.org/officeDocument/2006/docPropsVTypes">
  <Template>SE10 slides.thmx</Template>
  <TotalTime>8778</TotalTime>
  <Words>2608</Words>
  <Application>Microsoft Macintosh PowerPoint</Application>
  <PresentationFormat>On-screen Show (4:3)</PresentationFormat>
  <Paragraphs>291</Paragraphs>
  <Slides>46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Wingdings</vt:lpstr>
      <vt:lpstr>SE10 slides</vt:lpstr>
      <vt:lpstr>PowerPoint Presentation</vt:lpstr>
      <vt:lpstr>Topics</vt:lpstr>
      <vt:lpstr>Life-cycle vs Evolution </vt:lpstr>
      <vt:lpstr>Software Change</vt:lpstr>
      <vt:lpstr>Importance of Evolution</vt:lpstr>
      <vt:lpstr>Evolution &amp; Servicing </vt:lpstr>
      <vt:lpstr>… Evolution &amp; Servicing</vt:lpstr>
      <vt:lpstr>Evolution Processes</vt:lpstr>
      <vt:lpstr>Change Identification &amp; Evolution Processes </vt:lpstr>
      <vt:lpstr>The Software Evolution Process </vt:lpstr>
      <vt:lpstr>Urgent Change Requests</vt:lpstr>
      <vt:lpstr>The Emergency Repair Process</vt:lpstr>
      <vt:lpstr>Agile Methods &amp; Evolution</vt:lpstr>
      <vt:lpstr>Legacy Systems</vt:lpstr>
      <vt:lpstr>The Elements of a Legacy System</vt:lpstr>
      <vt:lpstr>Legacy System Components</vt:lpstr>
      <vt:lpstr>… Legacy System Components</vt:lpstr>
      <vt:lpstr>Legacy System Replacement</vt:lpstr>
      <vt:lpstr>Legacy System Change</vt:lpstr>
      <vt:lpstr>Legacy System Management</vt:lpstr>
      <vt:lpstr>Legacy System Categories</vt:lpstr>
      <vt:lpstr>Business Value Assessment</vt:lpstr>
      <vt:lpstr>Issues in Business Value Assessment</vt:lpstr>
      <vt:lpstr>System Quality Assessment</vt:lpstr>
      <vt:lpstr>Business Process Assessment</vt:lpstr>
      <vt:lpstr>Factors Used in Environment Assessment </vt:lpstr>
      <vt:lpstr>… Factors Used in Environment      Assessment</vt:lpstr>
      <vt:lpstr>Factors Used in Application Assessment </vt:lpstr>
      <vt:lpstr>… Factors Used in Application Assessment</vt:lpstr>
      <vt:lpstr>System Measurement</vt:lpstr>
      <vt:lpstr>Software Maintenance</vt:lpstr>
      <vt:lpstr>Types of Maintenance</vt:lpstr>
      <vt:lpstr>Maintenance Effort Distribution </vt:lpstr>
      <vt:lpstr>Maintenance Costs</vt:lpstr>
      <vt:lpstr>… Maintenance Costs</vt:lpstr>
      <vt:lpstr>Maintenance Prediction</vt:lpstr>
      <vt:lpstr>… Maintenance Prediction </vt:lpstr>
      <vt:lpstr>Complexity Metrics</vt:lpstr>
      <vt:lpstr>Process Metrics</vt:lpstr>
      <vt:lpstr>Refactoring</vt:lpstr>
      <vt:lpstr>“Bad Smells” in Program Code</vt:lpstr>
      <vt:lpstr>… “Bad Smells” in Program Code</vt:lpstr>
      <vt:lpstr>Key Points</vt:lpstr>
      <vt:lpstr>… Key Points</vt:lpstr>
      <vt:lpstr>… Key Points</vt:lpstr>
      <vt:lpstr>PowerPoint Presentation</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9</dc:title>
  <dc:creator>Ian Sommerville</dc:creator>
  <cp:lastModifiedBy>Sharon Tang</cp:lastModifiedBy>
  <cp:revision>44</cp:revision>
  <dcterms:created xsi:type="dcterms:W3CDTF">2009-12-29T15:27:38Z</dcterms:created>
  <dcterms:modified xsi:type="dcterms:W3CDTF">2025-09-08T08:37:21Z</dcterms:modified>
</cp:coreProperties>
</file>